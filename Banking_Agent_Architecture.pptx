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 id="262" r:id="rId6"/>
    <p:sldId id="261"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340" autoAdjust="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FECCC-DA32-2CE8-B733-5EB74C8D23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FA926A-24DB-0C73-338F-5F97655105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1E49E6-D7BD-6E3A-46B4-EA9F081BB063}"/>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5" name="Footer Placeholder 4">
            <a:extLst>
              <a:ext uri="{FF2B5EF4-FFF2-40B4-BE49-F238E27FC236}">
                <a16:creationId xmlns:a16="http://schemas.microsoft.com/office/drawing/2014/main" id="{AD223EDA-698D-A8D8-2346-C8C5B65813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961B57-946E-711C-1A9E-0964C9F61C87}"/>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1913096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079FF-07B7-CA2C-F528-8EBC3D35D9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6435ED-C0AE-9A1C-69B1-F6AD0E522C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5B8732-3B58-B54B-D45F-5970EAA45F14}"/>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5" name="Footer Placeholder 4">
            <a:extLst>
              <a:ext uri="{FF2B5EF4-FFF2-40B4-BE49-F238E27FC236}">
                <a16:creationId xmlns:a16="http://schemas.microsoft.com/office/drawing/2014/main" id="{BF9907F5-A1C2-978D-71CE-D4C0C7F0C5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F77C3E-F5F9-6B12-7396-016595D558BC}"/>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1527991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1F3A-A55D-B213-9CF0-8953E2C9C9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FD5024-C865-CB6D-B71C-C0E5033924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E60F6A-E0B2-DD40-BB2B-E355D411EDCF}"/>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5" name="Footer Placeholder 4">
            <a:extLst>
              <a:ext uri="{FF2B5EF4-FFF2-40B4-BE49-F238E27FC236}">
                <a16:creationId xmlns:a16="http://schemas.microsoft.com/office/drawing/2014/main" id="{65BF357E-3031-5609-25D8-ED6146F252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0F6F02-554C-3F63-5A59-817A119EE1C2}"/>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1941011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52EB5-27CF-DC83-EB9C-B8F5B41F4D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C45132-7766-409B-8ED9-F53EF415AC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C5C87B-1A42-577E-29A9-6C9831ABDB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BBD0B8-056F-EBC3-5B84-AF5C3F36DBEB}"/>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6" name="Footer Placeholder 5">
            <a:extLst>
              <a:ext uri="{FF2B5EF4-FFF2-40B4-BE49-F238E27FC236}">
                <a16:creationId xmlns:a16="http://schemas.microsoft.com/office/drawing/2014/main" id="{97BF3365-D9CB-ACBA-36F9-A006B82564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86B366-620B-12BC-44DD-95F2402145BB}"/>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959851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1D842-2BCE-10E3-A18E-822624E73F3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CF2B9B-1C21-C738-AD3C-3112E8DC48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251CFF-8FD0-86D3-6D5F-9BDC9AB0DE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22FD90-12D6-4002-8D7C-A54EB63613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2717EF-C856-EB0E-DAB6-A851ADC89E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3CC63A-8D84-7F0A-DFB4-AA8F8F9E4B01}"/>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8" name="Footer Placeholder 7">
            <a:extLst>
              <a:ext uri="{FF2B5EF4-FFF2-40B4-BE49-F238E27FC236}">
                <a16:creationId xmlns:a16="http://schemas.microsoft.com/office/drawing/2014/main" id="{7FFFEA77-D806-F70B-4474-81DD772AF0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5D3AE9-E93B-66CC-FF89-A06460415EE8}"/>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1846973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B61C6-BA69-2CD9-1042-89FF98888C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55D0C7F-7BC1-2BF0-7244-176EBFD8678A}"/>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4" name="Footer Placeholder 3">
            <a:extLst>
              <a:ext uri="{FF2B5EF4-FFF2-40B4-BE49-F238E27FC236}">
                <a16:creationId xmlns:a16="http://schemas.microsoft.com/office/drawing/2014/main" id="{226FCBB1-720C-380B-DE74-A236C5F3D9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A4F0D2-1DEF-23C5-076A-496CB37079B1}"/>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38938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E5A6D2-A4BA-2760-6922-C9261EFAF40C}"/>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3" name="Footer Placeholder 2">
            <a:extLst>
              <a:ext uri="{FF2B5EF4-FFF2-40B4-BE49-F238E27FC236}">
                <a16:creationId xmlns:a16="http://schemas.microsoft.com/office/drawing/2014/main" id="{6F7D79DF-F428-FA68-4482-CAA0F0E12A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F1445FF-2B73-437D-4912-1F2557F75C8C}"/>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2178611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7C52-9F59-425B-FCC5-4411C561BB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E6E994-184C-AE46-0493-3C312E05E3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5ADBF27-FF5F-72D6-AEE9-0E634B167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8C5D3E-E7EF-1014-B140-E5E40CC6E397}"/>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6" name="Footer Placeholder 5">
            <a:extLst>
              <a:ext uri="{FF2B5EF4-FFF2-40B4-BE49-F238E27FC236}">
                <a16:creationId xmlns:a16="http://schemas.microsoft.com/office/drawing/2014/main" id="{380C21D2-4A25-F640-1710-E738E4C43D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F37796-D981-6636-2073-01BBDF6F3393}"/>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1131723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0A2BE-48FD-4C80-9B6A-2517D1905A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17E5A7-830D-1CE0-D04B-1FA150F99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1019E6-30CE-78D8-C0A6-8D6BE45F9F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E4F5E3-124B-D536-5D99-73F41F3325ED}"/>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6" name="Footer Placeholder 5">
            <a:extLst>
              <a:ext uri="{FF2B5EF4-FFF2-40B4-BE49-F238E27FC236}">
                <a16:creationId xmlns:a16="http://schemas.microsoft.com/office/drawing/2014/main" id="{FF62C783-9E05-EB24-AB63-7F74E01DE3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D5208B-B3E9-1EF6-012E-19B3EB55ED0C}"/>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3002642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A163B-6BE1-C0A2-4F1C-319E8FDAD80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5CE05C-9F21-1198-D64E-655157A1D1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A37611-9C46-75A2-E80E-4C058BA53A96}"/>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5" name="Footer Placeholder 4">
            <a:extLst>
              <a:ext uri="{FF2B5EF4-FFF2-40B4-BE49-F238E27FC236}">
                <a16:creationId xmlns:a16="http://schemas.microsoft.com/office/drawing/2014/main" id="{892D1BDE-6EBD-F470-AB74-AAD4B984FD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45BA20-979A-F613-1CAA-7EDC7336CC1E}"/>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1430473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ADFD8F-9200-86F1-9500-F28A7DF2982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D32E1E-8521-5A73-6F82-15163F832D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D2AB6D-1820-4CB0-DAD6-4ED0E9B0C37A}"/>
              </a:ext>
            </a:extLst>
          </p:cNvPr>
          <p:cNvSpPr>
            <a:spLocks noGrp="1"/>
          </p:cNvSpPr>
          <p:nvPr>
            <p:ph type="dt" sz="half" idx="10"/>
          </p:nvPr>
        </p:nvSpPr>
        <p:spPr/>
        <p:txBody>
          <a:bodyPr/>
          <a:lstStyle/>
          <a:p>
            <a:fld id="{BDD9F781-ACC8-413D-BE09-1D388E179BB4}" type="datetimeFigureOut">
              <a:rPr lang="en-IN" smtClean="0"/>
              <a:t>11-05-2026</a:t>
            </a:fld>
            <a:endParaRPr lang="en-IN"/>
          </a:p>
        </p:txBody>
      </p:sp>
      <p:sp>
        <p:nvSpPr>
          <p:cNvPr id="5" name="Footer Placeholder 4">
            <a:extLst>
              <a:ext uri="{FF2B5EF4-FFF2-40B4-BE49-F238E27FC236}">
                <a16:creationId xmlns:a16="http://schemas.microsoft.com/office/drawing/2014/main" id="{D85D2179-8E48-D2E2-2A14-FC12C18513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0953B8-69DD-CAA8-CD02-22EEF2E54F64}"/>
              </a:ext>
            </a:extLst>
          </p:cNvPr>
          <p:cNvSpPr>
            <a:spLocks noGrp="1"/>
          </p:cNvSpPr>
          <p:nvPr>
            <p:ph type="sldNum" sz="quarter" idx="12"/>
          </p:nvPr>
        </p:nvSpPr>
        <p:spPr/>
        <p:txBody>
          <a:bodyPr/>
          <a:lstStyle/>
          <a:p>
            <a:fld id="{7338D21A-C748-4226-A60C-206B2ABDAC18}" type="slidenum">
              <a:rPr lang="en-IN" smtClean="0"/>
              <a:t>‹#›</a:t>
            </a:fld>
            <a:endParaRPr lang="en-IN"/>
          </a:p>
        </p:txBody>
      </p:sp>
    </p:spTree>
    <p:extLst>
      <p:ext uri="{BB962C8B-B14F-4D97-AF65-F5344CB8AC3E}">
        <p14:creationId xmlns:p14="http://schemas.microsoft.com/office/powerpoint/2010/main" val="2623857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D0DBC5-EFAE-53CD-9E70-ED5FD91116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CB61E6-0154-6A00-6F98-05343FBDCA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F21E66-2395-9347-02A0-7D2CF3CD0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D9F781-ACC8-413D-BE09-1D388E179BB4}" type="datetimeFigureOut">
              <a:rPr lang="en-IN" smtClean="0"/>
              <a:t>11-05-2026</a:t>
            </a:fld>
            <a:endParaRPr lang="en-IN"/>
          </a:p>
        </p:txBody>
      </p:sp>
      <p:sp>
        <p:nvSpPr>
          <p:cNvPr id="5" name="Footer Placeholder 4">
            <a:extLst>
              <a:ext uri="{FF2B5EF4-FFF2-40B4-BE49-F238E27FC236}">
                <a16:creationId xmlns:a16="http://schemas.microsoft.com/office/drawing/2014/main" id="{8D1E990F-EF5B-A8DE-B187-4876DCFD8B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E975B2A-F132-9BD0-67E3-4F17B6E278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38D21A-C748-4226-A60C-206B2ABDAC18}" type="slidenum">
              <a:rPr lang="en-IN" smtClean="0"/>
              <a:t>‹#›</a:t>
            </a:fld>
            <a:endParaRPr lang="en-IN"/>
          </a:p>
        </p:txBody>
      </p:sp>
    </p:spTree>
    <p:extLst>
      <p:ext uri="{BB962C8B-B14F-4D97-AF65-F5344CB8AC3E}">
        <p14:creationId xmlns:p14="http://schemas.microsoft.com/office/powerpoint/2010/main" val="3177436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58E922-81BB-900E-190A-F79F4AD4DF75}"/>
              </a:ext>
            </a:extLst>
          </p:cNvPr>
          <p:cNvSpPr txBox="1"/>
          <p:nvPr/>
        </p:nvSpPr>
        <p:spPr>
          <a:xfrm>
            <a:off x="3119718" y="3182778"/>
            <a:ext cx="6329082" cy="492443"/>
          </a:xfrm>
          <a:prstGeom prst="rect">
            <a:avLst/>
          </a:prstGeom>
          <a:noFill/>
        </p:spPr>
        <p:txBody>
          <a:bodyPr wrap="square" rtlCol="0">
            <a:spAutoFit/>
          </a:bodyPr>
          <a:lstStyle/>
          <a:p>
            <a:r>
              <a:rPr lang="en-IN" sz="2600" dirty="0"/>
              <a:t>Agentic Multi Orchestrations Banking System</a:t>
            </a:r>
          </a:p>
        </p:txBody>
      </p:sp>
    </p:spTree>
    <p:extLst>
      <p:ext uri="{BB962C8B-B14F-4D97-AF65-F5344CB8AC3E}">
        <p14:creationId xmlns:p14="http://schemas.microsoft.com/office/powerpoint/2010/main" val="1960935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EBC15-21C9-AA8C-3B3A-2FCE63AFF0EB}"/>
              </a:ext>
            </a:extLst>
          </p:cNvPr>
          <p:cNvSpPr>
            <a:spLocks noGrp="1"/>
          </p:cNvSpPr>
          <p:nvPr>
            <p:ph type="title"/>
          </p:nvPr>
        </p:nvSpPr>
        <p:spPr>
          <a:xfrm>
            <a:off x="838199" y="365125"/>
            <a:ext cx="9736667" cy="1091141"/>
          </a:xfrm>
        </p:spPr>
        <p:txBody>
          <a:bodyPr>
            <a:normAutofit/>
          </a:bodyPr>
          <a:lstStyle/>
          <a:p>
            <a:r>
              <a:rPr lang="en-IN" sz="3000" dirty="0"/>
              <a:t>Problem Statement</a:t>
            </a:r>
          </a:p>
        </p:txBody>
      </p:sp>
      <p:sp>
        <p:nvSpPr>
          <p:cNvPr id="3" name="Content Placeholder 2">
            <a:extLst>
              <a:ext uri="{FF2B5EF4-FFF2-40B4-BE49-F238E27FC236}">
                <a16:creationId xmlns:a16="http://schemas.microsoft.com/office/drawing/2014/main" id="{A9EDC047-94F4-38F9-0869-1EE15AAF6AF1}"/>
              </a:ext>
            </a:extLst>
          </p:cNvPr>
          <p:cNvSpPr>
            <a:spLocks noGrp="1"/>
          </p:cNvSpPr>
          <p:nvPr>
            <p:ph idx="1"/>
          </p:nvPr>
        </p:nvSpPr>
        <p:spPr/>
        <p:txBody>
          <a:bodyPr>
            <a:normAutofit fontScale="85000" lnSpcReduction="20000"/>
          </a:bodyPr>
          <a:lstStyle/>
          <a:p>
            <a:pPr marL="0" indent="0">
              <a:buNone/>
            </a:pPr>
            <a:r>
              <a:rPr lang="en-US" dirty="0"/>
              <a:t>Banks today handle a large volume of customer queries related to policies, loans, KYC, disputes, compliance, account services, and regulatory procedures. Traditional chatbots often fail to understand complex requests, manage multilingual conversations, detect urgency, or provide contextual and accurate policy guidance. These limitations lead to poor customer experience, delayed resolutions, and increased dependency on human support teams. </a:t>
            </a:r>
          </a:p>
          <a:p>
            <a:pPr marL="0" indent="0">
              <a:buNone/>
            </a:pPr>
            <a:r>
              <a:rPr lang="en-US" dirty="0"/>
              <a:t>To address this challenge, we propose an Agentic Policy Bot Navigator - a multi-agent AI system designed specifically for banking customers. The solution leverages autonomous and collaborative AI agents to intelligently understand, decompose, process, and resolve customer policy-related queries in real time. </a:t>
            </a:r>
          </a:p>
          <a:p>
            <a:pPr marL="0" indent="0">
              <a:buNone/>
            </a:pPr>
            <a:r>
              <a:rPr lang="en-US" dirty="0"/>
              <a:t>The primary focus of this project is to build an agentic AI architecture where multiple intelligent agents work collaboratively to deliver accurate, contextual, scalable, and customer-centric banking policy assistance while improving operational efficiency and customer satisfaction.</a:t>
            </a:r>
            <a:endParaRPr lang="en-IN" dirty="0"/>
          </a:p>
        </p:txBody>
      </p:sp>
    </p:spTree>
    <p:extLst>
      <p:ext uri="{BB962C8B-B14F-4D97-AF65-F5344CB8AC3E}">
        <p14:creationId xmlns:p14="http://schemas.microsoft.com/office/powerpoint/2010/main" val="3059279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0" name="Group 189">
            <a:extLst>
              <a:ext uri="{FF2B5EF4-FFF2-40B4-BE49-F238E27FC236}">
                <a16:creationId xmlns:a16="http://schemas.microsoft.com/office/drawing/2014/main" id="{61EDF0BF-6F7A-8FB9-0CF4-EC77B3AE17F4}"/>
              </a:ext>
            </a:extLst>
          </p:cNvPr>
          <p:cNvGrpSpPr/>
          <p:nvPr/>
        </p:nvGrpSpPr>
        <p:grpSpPr>
          <a:xfrm>
            <a:off x="3626453" y="29398"/>
            <a:ext cx="5054470" cy="6282760"/>
            <a:chOff x="3626453" y="29398"/>
            <a:chExt cx="5054470" cy="6282760"/>
          </a:xfrm>
        </p:grpSpPr>
        <p:sp>
          <p:nvSpPr>
            <p:cNvPr id="98" name="TextBox 97">
              <a:extLst>
                <a:ext uri="{FF2B5EF4-FFF2-40B4-BE49-F238E27FC236}">
                  <a16:creationId xmlns:a16="http://schemas.microsoft.com/office/drawing/2014/main" id="{64B5FFB1-3FBF-9646-15F5-7A389807ECEB}"/>
                </a:ext>
              </a:extLst>
            </p:cNvPr>
            <p:cNvSpPr txBox="1"/>
            <p:nvPr/>
          </p:nvSpPr>
          <p:spPr>
            <a:xfrm>
              <a:off x="4966347" y="29398"/>
              <a:ext cx="1911934" cy="276999"/>
            </a:xfrm>
            <a:prstGeom prst="rect">
              <a:avLst/>
            </a:prstGeom>
            <a:noFill/>
          </p:spPr>
          <p:txBody>
            <a:bodyPr wrap="none" rtlCol="0">
              <a:spAutoFit/>
            </a:bodyPr>
            <a:lstStyle/>
            <a:p>
              <a:pPr algn="l"/>
              <a:r>
                <a:rPr lang="en-IN" sz="1200" spc="0" baseline="0" dirty="0">
                  <a:ln/>
                  <a:solidFill>
                    <a:srgbClr val="141413"/>
                  </a:solidFill>
                  <a:latin typeface="Segoe UI"/>
                  <a:cs typeface="Segoe UI"/>
                  <a:sym typeface="Segoe UI"/>
                  <a:rtl val="0"/>
                </a:rPr>
                <a:t>Agentic banking platform</a:t>
              </a:r>
            </a:p>
          </p:txBody>
        </p:sp>
        <p:grpSp>
          <p:nvGrpSpPr>
            <p:cNvPr id="99" name="Graphic 4">
              <a:extLst>
                <a:ext uri="{FF2B5EF4-FFF2-40B4-BE49-F238E27FC236}">
                  <a16:creationId xmlns:a16="http://schemas.microsoft.com/office/drawing/2014/main" id="{059A221B-98D5-6CC6-0AE4-3E38B054E960}"/>
                </a:ext>
              </a:extLst>
            </p:cNvPr>
            <p:cNvGrpSpPr/>
            <p:nvPr/>
          </p:nvGrpSpPr>
          <p:grpSpPr>
            <a:xfrm>
              <a:off x="5046306" y="363893"/>
              <a:ext cx="1329612" cy="433873"/>
              <a:chOff x="5046306" y="363893"/>
              <a:chExt cx="1329612" cy="433873"/>
            </a:xfrm>
          </p:grpSpPr>
          <p:sp>
            <p:nvSpPr>
              <p:cNvPr id="100" name="Rectangle: Rounded Corners 99">
                <a:extLst>
                  <a:ext uri="{FF2B5EF4-FFF2-40B4-BE49-F238E27FC236}">
                    <a16:creationId xmlns:a16="http://schemas.microsoft.com/office/drawing/2014/main" id="{EFC2E64C-30BC-1D6D-BE78-3A279E36E13D}"/>
                  </a:ext>
                </a:extLst>
              </p:cNvPr>
              <p:cNvSpPr/>
              <p:nvPr/>
            </p:nvSpPr>
            <p:spPr>
              <a:xfrm>
                <a:off x="5046306" y="363893"/>
                <a:ext cx="1329612" cy="433873"/>
              </a:xfrm>
              <a:prstGeom prst="roundRect">
                <a:avLst>
                  <a:gd name="adj" fmla="val 12903"/>
                </a:avLst>
              </a:prstGeom>
              <a:solidFill>
                <a:srgbClr val="E6F1FB"/>
              </a:solidFill>
              <a:ln w="3495" cap="flat">
                <a:solidFill>
                  <a:srgbClr val="185FA5"/>
                </a:solidFill>
                <a:prstDash val="solid"/>
                <a:miter/>
              </a:ln>
            </p:spPr>
          </p:sp>
          <p:sp>
            <p:nvSpPr>
              <p:cNvPr id="101" name="TextBox 100">
                <a:extLst>
                  <a:ext uri="{FF2B5EF4-FFF2-40B4-BE49-F238E27FC236}">
                    <a16:creationId xmlns:a16="http://schemas.microsoft.com/office/drawing/2014/main" id="{D80A8362-0C64-4037-2ACD-D487AA983E48}"/>
                  </a:ext>
                </a:extLst>
              </p:cNvPr>
              <p:cNvSpPr txBox="1"/>
              <p:nvPr/>
            </p:nvSpPr>
            <p:spPr>
              <a:xfrm>
                <a:off x="5306193" y="374185"/>
                <a:ext cx="809837" cy="230832"/>
              </a:xfrm>
              <a:prstGeom prst="rect">
                <a:avLst/>
              </a:prstGeom>
              <a:noFill/>
            </p:spPr>
            <p:txBody>
              <a:bodyPr wrap="none" rtlCol="0">
                <a:spAutoFit/>
              </a:bodyPr>
              <a:lstStyle/>
              <a:p>
                <a:pPr algn="l"/>
                <a:r>
                  <a:rPr lang="en-IN" sz="900" spc="0" baseline="0" dirty="0">
                    <a:ln/>
                    <a:solidFill>
                      <a:srgbClr val="0C447C"/>
                    </a:solidFill>
                    <a:latin typeface="Segoe UI"/>
                    <a:cs typeface="Segoe UI"/>
                    <a:sym typeface="Segoe UI"/>
                    <a:rtl val="0"/>
                  </a:rPr>
                  <a:t>API gateway</a:t>
                </a:r>
              </a:p>
            </p:txBody>
          </p:sp>
          <p:sp>
            <p:nvSpPr>
              <p:cNvPr id="103" name="TextBox 102">
                <a:extLst>
                  <a:ext uri="{FF2B5EF4-FFF2-40B4-BE49-F238E27FC236}">
                    <a16:creationId xmlns:a16="http://schemas.microsoft.com/office/drawing/2014/main" id="{91661823-246B-602B-5358-7629B0FCDD72}"/>
                  </a:ext>
                </a:extLst>
              </p:cNvPr>
              <p:cNvSpPr txBox="1"/>
              <p:nvPr/>
            </p:nvSpPr>
            <p:spPr>
              <a:xfrm>
                <a:off x="5234698" y="539937"/>
                <a:ext cx="1104790" cy="230832"/>
              </a:xfrm>
              <a:prstGeom prst="rect">
                <a:avLst/>
              </a:prstGeom>
              <a:noFill/>
            </p:spPr>
            <p:txBody>
              <a:bodyPr wrap="none" rtlCol="0">
                <a:spAutoFit/>
              </a:bodyPr>
              <a:lstStyle/>
              <a:p>
                <a:pPr algn="l"/>
                <a:r>
                  <a:rPr lang="en-IN" sz="900" spc="0" baseline="0" dirty="0">
                    <a:ln/>
                    <a:solidFill>
                      <a:srgbClr val="185FA5"/>
                    </a:solidFill>
                    <a:latin typeface="Segoe UI"/>
                    <a:cs typeface="Segoe UI"/>
                    <a:sym typeface="Segoe UI"/>
                    <a:rtl val="0"/>
                  </a:rPr>
                  <a:t>Entry &amp; auth layer</a:t>
                </a:r>
              </a:p>
            </p:txBody>
          </p:sp>
        </p:grpSp>
        <p:grpSp>
          <p:nvGrpSpPr>
            <p:cNvPr id="104" name="Graphic 4">
              <a:extLst>
                <a:ext uri="{FF2B5EF4-FFF2-40B4-BE49-F238E27FC236}">
                  <a16:creationId xmlns:a16="http://schemas.microsoft.com/office/drawing/2014/main" id="{1D6403C2-6136-88F0-97E3-44592B916532}"/>
                </a:ext>
              </a:extLst>
            </p:cNvPr>
            <p:cNvGrpSpPr/>
            <p:nvPr/>
          </p:nvGrpSpPr>
          <p:grpSpPr>
            <a:xfrm>
              <a:off x="6594249" y="359966"/>
              <a:ext cx="1679510" cy="433873"/>
              <a:chOff x="6515877" y="363893"/>
              <a:chExt cx="1679510" cy="433873"/>
            </a:xfrm>
          </p:grpSpPr>
          <p:sp>
            <p:nvSpPr>
              <p:cNvPr id="105" name="Rectangle: Rounded Corners 104">
                <a:extLst>
                  <a:ext uri="{FF2B5EF4-FFF2-40B4-BE49-F238E27FC236}">
                    <a16:creationId xmlns:a16="http://schemas.microsoft.com/office/drawing/2014/main" id="{79F91E0D-5C66-9FB2-0698-6D0FE8A03673}"/>
                  </a:ext>
                </a:extLst>
              </p:cNvPr>
              <p:cNvSpPr/>
              <p:nvPr/>
            </p:nvSpPr>
            <p:spPr>
              <a:xfrm>
                <a:off x="6515877" y="363893"/>
                <a:ext cx="1679510" cy="433873"/>
              </a:xfrm>
              <a:prstGeom prst="roundRect">
                <a:avLst>
                  <a:gd name="adj" fmla="val 12903"/>
                </a:avLst>
              </a:prstGeom>
              <a:solidFill>
                <a:srgbClr val="E1F5EE"/>
              </a:solidFill>
              <a:ln w="3495" cap="flat">
                <a:solidFill>
                  <a:srgbClr val="0F6E56"/>
                </a:solidFill>
                <a:prstDash val="solid"/>
                <a:miter/>
              </a:ln>
            </p:spPr>
          </p:sp>
          <p:sp>
            <p:nvSpPr>
              <p:cNvPr id="106" name="TextBox 105">
                <a:extLst>
                  <a:ext uri="{FF2B5EF4-FFF2-40B4-BE49-F238E27FC236}">
                    <a16:creationId xmlns:a16="http://schemas.microsoft.com/office/drawing/2014/main" id="{B7E1697D-A4CD-D9BB-BB5A-1AEBB466A753}"/>
                  </a:ext>
                </a:extLst>
              </p:cNvPr>
              <p:cNvSpPr txBox="1"/>
              <p:nvPr/>
            </p:nvSpPr>
            <p:spPr>
              <a:xfrm>
                <a:off x="6806211" y="366413"/>
                <a:ext cx="1253869" cy="230832"/>
              </a:xfrm>
              <a:prstGeom prst="rect">
                <a:avLst/>
              </a:prstGeom>
              <a:noFill/>
            </p:spPr>
            <p:txBody>
              <a:bodyPr wrap="none" rtlCol="0">
                <a:spAutoFit/>
              </a:bodyPr>
              <a:lstStyle/>
              <a:p>
                <a:pPr algn="l"/>
                <a:r>
                  <a:rPr lang="en-IN" sz="900" spc="0" baseline="0" dirty="0">
                    <a:ln/>
                    <a:solidFill>
                      <a:srgbClr val="085041"/>
                    </a:solidFill>
                    <a:latin typeface="Segoe UI"/>
                    <a:cs typeface="Segoe UI"/>
                    <a:sym typeface="Segoe UI"/>
                    <a:rtl val="0"/>
                  </a:rPr>
                  <a:t>Core banking system</a:t>
                </a:r>
              </a:p>
            </p:txBody>
          </p:sp>
          <p:sp>
            <p:nvSpPr>
              <p:cNvPr id="107" name="TextBox 106">
                <a:extLst>
                  <a:ext uri="{FF2B5EF4-FFF2-40B4-BE49-F238E27FC236}">
                    <a16:creationId xmlns:a16="http://schemas.microsoft.com/office/drawing/2014/main" id="{D2CE0892-B12D-AE03-FC89-4893578835E4}"/>
                  </a:ext>
                </a:extLst>
              </p:cNvPr>
              <p:cNvSpPr txBox="1"/>
              <p:nvPr/>
            </p:nvSpPr>
            <p:spPr>
              <a:xfrm>
                <a:off x="6793544" y="464209"/>
                <a:ext cx="184731" cy="230832"/>
              </a:xfrm>
              <a:prstGeom prst="rect">
                <a:avLst/>
              </a:prstGeom>
              <a:noFill/>
            </p:spPr>
            <p:txBody>
              <a:bodyPr wrap="none" rtlCol="0">
                <a:spAutoFit/>
              </a:bodyPr>
              <a:lstStyle/>
              <a:p>
                <a:pPr algn="l"/>
                <a:endParaRPr lang="en-IN" sz="900" spc="0" baseline="0" dirty="0">
                  <a:ln/>
                  <a:solidFill>
                    <a:srgbClr val="0F6E56"/>
                  </a:solidFill>
                  <a:latin typeface="Segoe UI"/>
                  <a:cs typeface="Segoe UI"/>
                  <a:sym typeface="Segoe UI"/>
                  <a:rtl val="0"/>
                </a:endParaRPr>
              </a:p>
            </p:txBody>
          </p:sp>
          <p:sp>
            <p:nvSpPr>
              <p:cNvPr id="108" name="TextBox 107">
                <a:extLst>
                  <a:ext uri="{FF2B5EF4-FFF2-40B4-BE49-F238E27FC236}">
                    <a16:creationId xmlns:a16="http://schemas.microsoft.com/office/drawing/2014/main" id="{62537046-E272-F50D-F357-2F67CAF82CE1}"/>
                  </a:ext>
                </a:extLst>
              </p:cNvPr>
              <p:cNvSpPr txBox="1"/>
              <p:nvPr/>
            </p:nvSpPr>
            <p:spPr>
              <a:xfrm>
                <a:off x="6727576" y="532625"/>
                <a:ext cx="1422184" cy="230832"/>
              </a:xfrm>
              <a:prstGeom prst="rect">
                <a:avLst/>
              </a:prstGeom>
              <a:noFill/>
            </p:spPr>
            <p:txBody>
              <a:bodyPr wrap="none" rtlCol="0">
                <a:spAutoFit/>
              </a:bodyPr>
              <a:lstStyle/>
              <a:p>
                <a:pPr algn="l"/>
                <a:r>
                  <a:rPr lang="en-IN" sz="900" spc="0" baseline="0" dirty="0">
                    <a:ln/>
                    <a:solidFill>
                      <a:srgbClr val="0F6E56"/>
                    </a:solidFill>
                    <a:latin typeface="Segoe UI"/>
                    <a:cs typeface="Segoe UI"/>
                    <a:sym typeface="Segoe UI"/>
                    <a:rtl val="0"/>
                  </a:rPr>
                  <a:t>Accounts &amp; transactions</a:t>
                </a:r>
              </a:p>
            </p:txBody>
          </p:sp>
        </p:grpSp>
        <p:sp>
          <p:nvSpPr>
            <p:cNvPr id="109" name="Freeform: Shape 108">
              <a:extLst>
                <a:ext uri="{FF2B5EF4-FFF2-40B4-BE49-F238E27FC236}">
                  <a16:creationId xmlns:a16="http://schemas.microsoft.com/office/drawing/2014/main" id="{D332FDEF-DAE4-99FE-4257-54E2AA0DBFCC}"/>
                </a:ext>
              </a:extLst>
            </p:cNvPr>
            <p:cNvSpPr/>
            <p:nvPr/>
          </p:nvSpPr>
          <p:spPr>
            <a:xfrm>
              <a:off x="6375918" y="580830"/>
              <a:ext cx="245321" cy="45719"/>
            </a:xfrm>
            <a:custGeom>
              <a:avLst/>
              <a:gdLst>
                <a:gd name="csX0" fmla="*/ 0 w 132961"/>
                <a:gd name="csY0" fmla="*/ 0 h 6997"/>
                <a:gd name="csX1" fmla="*/ 132961 w 132961"/>
                <a:gd name="csY1" fmla="*/ 0 h 6997"/>
              </a:gdLst>
              <a:ahLst/>
              <a:cxnLst>
                <a:cxn ang="0">
                  <a:pos x="csX0" y="csY0"/>
                </a:cxn>
                <a:cxn ang="0">
                  <a:pos x="csX1" y="csY1"/>
                </a:cxn>
              </a:cxnLst>
              <a:rect l="l" t="t" r="r" b="b"/>
              <a:pathLst>
                <a:path w="132961" h="6997">
                  <a:moveTo>
                    <a:pt x="0" y="0"/>
                  </a:moveTo>
                  <a:lnTo>
                    <a:pt x="132961" y="0"/>
                  </a:lnTo>
                </a:path>
              </a:pathLst>
            </a:custGeom>
            <a:ln w="6990" cap="flat">
              <a:solidFill>
                <a:srgbClr val="378ADD">
                  <a:alpha val="60000"/>
                </a:srgbClr>
              </a:solidFill>
              <a:prstDash val="solid"/>
              <a:miter/>
            </a:ln>
          </p:spPr>
        </p:sp>
        <p:sp>
          <p:nvSpPr>
            <p:cNvPr id="110" name="TextBox 109">
              <a:extLst>
                <a:ext uri="{FF2B5EF4-FFF2-40B4-BE49-F238E27FC236}">
                  <a16:creationId xmlns:a16="http://schemas.microsoft.com/office/drawing/2014/main" id="{A1B2F66B-B472-21D6-A5BE-4F36EC125506}"/>
                </a:ext>
              </a:extLst>
            </p:cNvPr>
            <p:cNvSpPr txBox="1"/>
            <p:nvPr/>
          </p:nvSpPr>
          <p:spPr>
            <a:xfrm>
              <a:off x="6330904" y="393616"/>
              <a:ext cx="335348" cy="215444"/>
            </a:xfrm>
            <a:prstGeom prst="rect">
              <a:avLst/>
            </a:prstGeom>
            <a:noFill/>
          </p:spPr>
          <p:txBody>
            <a:bodyPr wrap="none" rtlCol="0">
              <a:spAutoFit/>
            </a:bodyPr>
            <a:lstStyle/>
            <a:p>
              <a:pPr algn="l"/>
              <a:r>
                <a:rPr lang="en-IN" sz="800" spc="0" baseline="0" dirty="0">
                  <a:ln/>
                  <a:solidFill>
                    <a:srgbClr val="3D3D3A"/>
                  </a:solidFill>
                  <a:latin typeface="Segoe UI"/>
                  <a:cs typeface="Segoe UI"/>
                  <a:sym typeface="Segoe UI"/>
                  <a:rtl val="0"/>
                </a:rPr>
                <a:t>API</a:t>
              </a:r>
            </a:p>
          </p:txBody>
        </p:sp>
        <p:grpSp>
          <p:nvGrpSpPr>
            <p:cNvPr id="111" name="Graphic 4">
              <a:extLst>
                <a:ext uri="{FF2B5EF4-FFF2-40B4-BE49-F238E27FC236}">
                  <a16:creationId xmlns:a16="http://schemas.microsoft.com/office/drawing/2014/main" id="{F0D6E5F4-9686-BC09-8CFE-38EB3BFC34AF}"/>
                </a:ext>
              </a:extLst>
            </p:cNvPr>
            <p:cNvGrpSpPr/>
            <p:nvPr/>
          </p:nvGrpSpPr>
          <p:grpSpPr>
            <a:xfrm>
              <a:off x="5186265" y="1203648"/>
              <a:ext cx="1841762" cy="503853"/>
              <a:chOff x="5186265" y="1203648"/>
              <a:chExt cx="1819469" cy="503853"/>
            </a:xfrm>
          </p:grpSpPr>
          <p:sp>
            <p:nvSpPr>
              <p:cNvPr id="112" name="Rectangle: Rounded Corners 111">
                <a:extLst>
                  <a:ext uri="{FF2B5EF4-FFF2-40B4-BE49-F238E27FC236}">
                    <a16:creationId xmlns:a16="http://schemas.microsoft.com/office/drawing/2014/main" id="{0906E71A-D84A-510B-BCDF-ADD7BFEEDA8D}"/>
                  </a:ext>
                </a:extLst>
              </p:cNvPr>
              <p:cNvSpPr/>
              <p:nvPr/>
            </p:nvSpPr>
            <p:spPr>
              <a:xfrm>
                <a:off x="5186265" y="1203648"/>
                <a:ext cx="1819469" cy="503853"/>
              </a:xfrm>
              <a:prstGeom prst="roundRect">
                <a:avLst>
                  <a:gd name="adj" fmla="val 13888"/>
                </a:avLst>
              </a:prstGeom>
              <a:solidFill>
                <a:srgbClr val="EEEDFE"/>
              </a:solidFill>
              <a:ln w="6990" cap="flat">
                <a:solidFill>
                  <a:srgbClr val="534AB7"/>
                </a:solidFill>
                <a:prstDash val="solid"/>
                <a:miter/>
              </a:ln>
            </p:spPr>
          </p:sp>
          <p:sp>
            <p:nvSpPr>
              <p:cNvPr id="113" name="TextBox 112">
                <a:extLst>
                  <a:ext uri="{FF2B5EF4-FFF2-40B4-BE49-F238E27FC236}">
                    <a16:creationId xmlns:a16="http://schemas.microsoft.com/office/drawing/2014/main" id="{F232D31A-D118-2DA4-60D5-2FC25B698E4C}"/>
                  </a:ext>
                </a:extLst>
              </p:cNvPr>
              <p:cNvSpPr txBox="1"/>
              <p:nvPr/>
            </p:nvSpPr>
            <p:spPr>
              <a:xfrm>
                <a:off x="5692644" y="1300649"/>
                <a:ext cx="824265" cy="230832"/>
              </a:xfrm>
              <a:prstGeom prst="rect">
                <a:avLst/>
              </a:prstGeom>
              <a:noFill/>
            </p:spPr>
            <p:txBody>
              <a:bodyPr wrap="none" rtlCol="0">
                <a:spAutoFit/>
              </a:bodyPr>
              <a:lstStyle/>
              <a:p>
                <a:pPr algn="l"/>
                <a:r>
                  <a:rPr lang="en-IN" sz="900" spc="0" baseline="0" dirty="0">
                    <a:ln/>
                    <a:solidFill>
                      <a:srgbClr val="3C3489"/>
                    </a:solidFill>
                    <a:latin typeface="Segoe UI"/>
                    <a:cs typeface="Segoe UI"/>
                    <a:sym typeface="Segoe UI"/>
                    <a:rtl val="0"/>
                  </a:rPr>
                  <a:t>Orchestrator</a:t>
                </a:r>
              </a:p>
            </p:txBody>
          </p:sp>
          <p:sp>
            <p:nvSpPr>
              <p:cNvPr id="114" name="TextBox 113">
                <a:extLst>
                  <a:ext uri="{FF2B5EF4-FFF2-40B4-BE49-F238E27FC236}">
                    <a16:creationId xmlns:a16="http://schemas.microsoft.com/office/drawing/2014/main" id="{E5616D87-83B9-0E35-18A5-D0AD20A98A3D}"/>
                  </a:ext>
                </a:extLst>
              </p:cNvPr>
              <p:cNvSpPr txBox="1"/>
              <p:nvPr/>
            </p:nvSpPr>
            <p:spPr>
              <a:xfrm>
                <a:off x="5291014" y="1336056"/>
                <a:ext cx="182495" cy="230832"/>
              </a:xfrm>
              <a:prstGeom prst="rect">
                <a:avLst/>
              </a:prstGeom>
              <a:noFill/>
            </p:spPr>
            <p:txBody>
              <a:bodyPr wrap="none" rtlCol="0">
                <a:spAutoFit/>
              </a:bodyPr>
              <a:lstStyle/>
              <a:p>
                <a:pPr algn="l"/>
                <a:endParaRPr lang="en-IN" sz="900" spc="0" baseline="0" dirty="0">
                  <a:ln/>
                  <a:solidFill>
                    <a:srgbClr val="534AB7"/>
                  </a:solidFill>
                  <a:latin typeface="Segoe UI"/>
                  <a:cs typeface="Segoe UI"/>
                  <a:sym typeface="Segoe UI"/>
                  <a:rtl val="0"/>
                </a:endParaRPr>
              </a:p>
            </p:txBody>
          </p:sp>
          <p:sp>
            <p:nvSpPr>
              <p:cNvPr id="115" name="TextBox 114">
                <a:extLst>
                  <a:ext uri="{FF2B5EF4-FFF2-40B4-BE49-F238E27FC236}">
                    <a16:creationId xmlns:a16="http://schemas.microsoft.com/office/drawing/2014/main" id="{2E9A4673-D234-4E63-7E46-1AA1F43CE314}"/>
                  </a:ext>
                </a:extLst>
              </p:cNvPr>
              <p:cNvSpPr txBox="1"/>
              <p:nvPr/>
            </p:nvSpPr>
            <p:spPr>
              <a:xfrm>
                <a:off x="5213587" y="1462482"/>
                <a:ext cx="182495" cy="230832"/>
              </a:xfrm>
              <a:prstGeom prst="rect">
                <a:avLst/>
              </a:prstGeom>
              <a:noFill/>
            </p:spPr>
            <p:txBody>
              <a:bodyPr wrap="none" rtlCol="0">
                <a:spAutoFit/>
              </a:bodyPr>
              <a:lstStyle/>
              <a:p>
                <a:pPr algn="l"/>
                <a:endParaRPr lang="en-IN" sz="900" spc="0" baseline="0" dirty="0">
                  <a:ln/>
                  <a:solidFill>
                    <a:srgbClr val="534AB7"/>
                  </a:solidFill>
                  <a:latin typeface="Segoe UI"/>
                  <a:cs typeface="Segoe UI"/>
                  <a:sym typeface="Segoe UI"/>
                  <a:rtl val="0"/>
                </a:endParaRPr>
              </a:p>
            </p:txBody>
          </p:sp>
        </p:grpSp>
        <p:sp>
          <p:nvSpPr>
            <p:cNvPr id="116" name="Freeform: Shape 115">
              <a:extLst>
                <a:ext uri="{FF2B5EF4-FFF2-40B4-BE49-F238E27FC236}">
                  <a16:creationId xmlns:a16="http://schemas.microsoft.com/office/drawing/2014/main" id="{C1E7E4B7-B34D-5492-F83C-31553A4ADF55}"/>
                </a:ext>
              </a:extLst>
            </p:cNvPr>
            <p:cNvSpPr/>
            <p:nvPr/>
          </p:nvSpPr>
          <p:spPr>
            <a:xfrm>
              <a:off x="5711112" y="797767"/>
              <a:ext cx="104969" cy="398883"/>
            </a:xfrm>
            <a:custGeom>
              <a:avLst/>
              <a:gdLst>
                <a:gd name="csX0" fmla="*/ 0 w 104969"/>
                <a:gd name="csY0" fmla="*/ 0 h 398883"/>
                <a:gd name="csX1" fmla="*/ 104969 w 104969"/>
                <a:gd name="csY1" fmla="*/ 398884 h 398883"/>
              </a:gdLst>
              <a:ahLst/>
              <a:cxnLst>
                <a:cxn ang="0">
                  <a:pos x="csX0" y="csY0"/>
                </a:cxn>
                <a:cxn ang="0">
                  <a:pos x="csX1" y="csY1"/>
                </a:cxn>
              </a:cxnLst>
              <a:rect l="l" t="t" r="r" b="b"/>
              <a:pathLst>
                <a:path w="104969" h="398883">
                  <a:moveTo>
                    <a:pt x="0" y="0"/>
                  </a:moveTo>
                  <a:lnTo>
                    <a:pt x="104969" y="398884"/>
                  </a:lnTo>
                </a:path>
              </a:pathLst>
            </a:custGeom>
            <a:ln w="6990" cap="flat">
              <a:solidFill>
                <a:srgbClr val="378ADD">
                  <a:alpha val="50000"/>
                </a:srgbClr>
              </a:solidFill>
              <a:prstDash val="solid"/>
              <a:miter/>
            </a:ln>
          </p:spPr>
        </p:sp>
        <p:sp>
          <p:nvSpPr>
            <p:cNvPr id="117" name="TextBox 116">
              <a:extLst>
                <a:ext uri="{FF2B5EF4-FFF2-40B4-BE49-F238E27FC236}">
                  <a16:creationId xmlns:a16="http://schemas.microsoft.com/office/drawing/2014/main" id="{A6DC5910-6192-A3B8-BF1D-5BA21F99A104}"/>
                </a:ext>
              </a:extLst>
            </p:cNvPr>
            <p:cNvSpPr txBox="1"/>
            <p:nvPr/>
          </p:nvSpPr>
          <p:spPr>
            <a:xfrm>
              <a:off x="5475134" y="885363"/>
              <a:ext cx="352982" cy="230832"/>
            </a:xfrm>
            <a:prstGeom prst="rect">
              <a:avLst/>
            </a:prstGeom>
            <a:noFill/>
          </p:spPr>
          <p:txBody>
            <a:bodyPr wrap="none" rtlCol="0">
              <a:spAutoFit/>
            </a:bodyPr>
            <a:lstStyle/>
            <a:p>
              <a:pPr algn="l"/>
              <a:r>
                <a:rPr lang="en-IN" sz="900" spc="0" baseline="0">
                  <a:ln/>
                  <a:solidFill>
                    <a:srgbClr val="3D3D3A"/>
                  </a:solidFill>
                  <a:latin typeface="Segoe UI"/>
                  <a:cs typeface="Segoe UI"/>
                  <a:sym typeface="Segoe UI"/>
                  <a:rtl val="0"/>
                </a:rPr>
                <a:t>API</a:t>
              </a:r>
            </a:p>
          </p:txBody>
        </p:sp>
        <p:sp>
          <p:nvSpPr>
            <p:cNvPr id="118" name="Freeform: Shape 117">
              <a:extLst>
                <a:ext uri="{FF2B5EF4-FFF2-40B4-BE49-F238E27FC236}">
                  <a16:creationId xmlns:a16="http://schemas.microsoft.com/office/drawing/2014/main" id="{9C8E6411-EFFE-2473-9697-A0F7EF9B3E59}"/>
                </a:ext>
              </a:extLst>
            </p:cNvPr>
            <p:cNvSpPr/>
            <p:nvPr/>
          </p:nvSpPr>
          <p:spPr>
            <a:xfrm>
              <a:off x="7012732" y="797767"/>
              <a:ext cx="342899" cy="405881"/>
            </a:xfrm>
            <a:custGeom>
              <a:avLst/>
              <a:gdLst>
                <a:gd name="csX0" fmla="*/ 342900 w 342899"/>
                <a:gd name="csY0" fmla="*/ 0 h 405881"/>
                <a:gd name="csX1" fmla="*/ 342900 w 342899"/>
                <a:gd name="csY1" fmla="*/ 307910 h 405881"/>
                <a:gd name="csX2" fmla="*/ 0 w 342899"/>
                <a:gd name="csY2" fmla="*/ 405882 h 405881"/>
              </a:gdLst>
              <a:ahLst/>
              <a:cxnLst>
                <a:cxn ang="0">
                  <a:pos x="csX0" y="csY0"/>
                </a:cxn>
                <a:cxn ang="0">
                  <a:pos x="csX1" y="csY1"/>
                </a:cxn>
                <a:cxn ang="0">
                  <a:pos x="csX2" y="csY2"/>
                </a:cxn>
              </a:cxnLst>
              <a:rect l="l" t="t" r="r" b="b"/>
              <a:pathLst>
                <a:path w="342899" h="405881">
                  <a:moveTo>
                    <a:pt x="342900" y="0"/>
                  </a:moveTo>
                  <a:lnTo>
                    <a:pt x="342900" y="307910"/>
                  </a:lnTo>
                  <a:lnTo>
                    <a:pt x="0" y="405882"/>
                  </a:lnTo>
                </a:path>
              </a:pathLst>
            </a:custGeom>
            <a:noFill/>
            <a:ln w="5592" cap="flat">
              <a:solidFill>
                <a:srgbClr val="1D9E75">
                  <a:alpha val="40000"/>
                </a:srgbClr>
              </a:solidFill>
              <a:prstDash val="solid"/>
              <a:miter/>
            </a:ln>
          </p:spPr>
        </p:sp>
        <p:grpSp>
          <p:nvGrpSpPr>
            <p:cNvPr id="119" name="Graphic 4">
              <a:extLst>
                <a:ext uri="{FF2B5EF4-FFF2-40B4-BE49-F238E27FC236}">
                  <a16:creationId xmlns:a16="http://schemas.microsoft.com/office/drawing/2014/main" id="{ECC950C0-D2DD-B849-A082-E1284893E79E}"/>
                </a:ext>
              </a:extLst>
            </p:cNvPr>
            <p:cNvGrpSpPr/>
            <p:nvPr/>
          </p:nvGrpSpPr>
          <p:grpSpPr>
            <a:xfrm>
              <a:off x="3828661" y="2169367"/>
              <a:ext cx="1469571" cy="517848"/>
              <a:chOff x="3828661" y="2169367"/>
              <a:chExt cx="1469571" cy="517848"/>
            </a:xfrm>
          </p:grpSpPr>
          <p:sp>
            <p:nvSpPr>
              <p:cNvPr id="120" name="Rectangle: Rounded Corners 119">
                <a:extLst>
                  <a:ext uri="{FF2B5EF4-FFF2-40B4-BE49-F238E27FC236}">
                    <a16:creationId xmlns:a16="http://schemas.microsoft.com/office/drawing/2014/main" id="{286D429B-8DAA-C878-647E-C531B1E1B0A8}"/>
                  </a:ext>
                </a:extLst>
              </p:cNvPr>
              <p:cNvSpPr/>
              <p:nvPr/>
            </p:nvSpPr>
            <p:spPr>
              <a:xfrm>
                <a:off x="3828661" y="2169367"/>
                <a:ext cx="1469571" cy="517848"/>
              </a:xfrm>
              <a:prstGeom prst="roundRect">
                <a:avLst>
                  <a:gd name="adj" fmla="val 10810"/>
                </a:avLst>
              </a:prstGeom>
              <a:solidFill>
                <a:srgbClr val="FAECE7"/>
              </a:solidFill>
              <a:ln w="3495" cap="flat">
                <a:solidFill>
                  <a:srgbClr val="993C1D"/>
                </a:solidFill>
                <a:prstDash val="solid"/>
                <a:miter/>
              </a:ln>
            </p:spPr>
          </p:sp>
          <p:sp>
            <p:nvSpPr>
              <p:cNvPr id="121" name="TextBox 120">
                <a:extLst>
                  <a:ext uri="{FF2B5EF4-FFF2-40B4-BE49-F238E27FC236}">
                    <a16:creationId xmlns:a16="http://schemas.microsoft.com/office/drawing/2014/main" id="{AEBA95A4-217A-04E7-4331-8C817FB2B154}"/>
                  </a:ext>
                </a:extLst>
              </p:cNvPr>
              <p:cNvSpPr txBox="1"/>
              <p:nvPr/>
            </p:nvSpPr>
            <p:spPr>
              <a:xfrm>
                <a:off x="4194890" y="2335615"/>
                <a:ext cx="732893" cy="230832"/>
              </a:xfrm>
              <a:prstGeom prst="rect">
                <a:avLst/>
              </a:prstGeom>
              <a:noFill/>
            </p:spPr>
            <p:txBody>
              <a:bodyPr wrap="none" rtlCol="0">
                <a:spAutoFit/>
              </a:bodyPr>
              <a:lstStyle/>
              <a:p>
                <a:pPr algn="l"/>
                <a:r>
                  <a:rPr lang="en-IN" sz="900" spc="0" baseline="0" dirty="0">
                    <a:ln/>
                    <a:solidFill>
                      <a:srgbClr val="712B13"/>
                    </a:solidFill>
                    <a:latin typeface="Segoe UI"/>
                    <a:cs typeface="Segoe UI"/>
                    <a:sym typeface="Segoe UI"/>
                    <a:rtl val="0"/>
                  </a:rPr>
                  <a:t>Policy RAG</a:t>
                </a:r>
              </a:p>
            </p:txBody>
          </p:sp>
          <p:sp>
            <p:nvSpPr>
              <p:cNvPr id="122" name="TextBox 121">
                <a:extLst>
                  <a:ext uri="{FF2B5EF4-FFF2-40B4-BE49-F238E27FC236}">
                    <a16:creationId xmlns:a16="http://schemas.microsoft.com/office/drawing/2014/main" id="{078AC6F8-90DB-AD24-1747-CC894CA00845}"/>
                  </a:ext>
                </a:extLst>
              </p:cNvPr>
              <p:cNvSpPr txBox="1"/>
              <p:nvPr/>
            </p:nvSpPr>
            <p:spPr>
              <a:xfrm>
                <a:off x="3919914" y="2295312"/>
                <a:ext cx="184731" cy="230832"/>
              </a:xfrm>
              <a:prstGeom prst="rect">
                <a:avLst/>
              </a:prstGeom>
              <a:noFill/>
            </p:spPr>
            <p:txBody>
              <a:bodyPr wrap="none" rtlCol="0">
                <a:spAutoFit/>
              </a:bodyPr>
              <a:lstStyle/>
              <a:p>
                <a:pPr algn="l"/>
                <a:endParaRPr lang="en-IN" sz="900" spc="0" baseline="0" dirty="0">
                  <a:ln/>
                  <a:solidFill>
                    <a:srgbClr val="993C1D"/>
                  </a:solidFill>
                  <a:latin typeface="Segoe UI"/>
                  <a:cs typeface="Segoe UI"/>
                  <a:sym typeface="Segoe UI"/>
                  <a:rtl val="0"/>
                </a:endParaRPr>
              </a:p>
            </p:txBody>
          </p:sp>
          <p:sp>
            <p:nvSpPr>
              <p:cNvPr id="123" name="TextBox 122">
                <a:extLst>
                  <a:ext uri="{FF2B5EF4-FFF2-40B4-BE49-F238E27FC236}">
                    <a16:creationId xmlns:a16="http://schemas.microsoft.com/office/drawing/2014/main" id="{3990ABE9-FC97-31FD-1720-AE8B5BB296AB}"/>
                  </a:ext>
                </a:extLst>
              </p:cNvPr>
              <p:cNvSpPr txBox="1"/>
              <p:nvPr/>
            </p:nvSpPr>
            <p:spPr>
              <a:xfrm>
                <a:off x="4056153" y="2411586"/>
                <a:ext cx="184731" cy="230832"/>
              </a:xfrm>
              <a:prstGeom prst="rect">
                <a:avLst/>
              </a:prstGeom>
              <a:noFill/>
            </p:spPr>
            <p:txBody>
              <a:bodyPr wrap="none" rtlCol="0">
                <a:spAutoFit/>
              </a:bodyPr>
              <a:lstStyle/>
              <a:p>
                <a:pPr algn="l"/>
                <a:endParaRPr lang="en-IN" sz="900" spc="0" baseline="0" dirty="0">
                  <a:ln/>
                  <a:solidFill>
                    <a:srgbClr val="993C1D"/>
                  </a:solidFill>
                  <a:latin typeface="Segoe UI"/>
                  <a:cs typeface="Segoe UI"/>
                  <a:sym typeface="Segoe UI"/>
                  <a:rtl val="0"/>
                </a:endParaRPr>
              </a:p>
            </p:txBody>
          </p:sp>
        </p:grpSp>
        <p:grpSp>
          <p:nvGrpSpPr>
            <p:cNvPr id="124" name="Graphic 4">
              <a:extLst>
                <a:ext uri="{FF2B5EF4-FFF2-40B4-BE49-F238E27FC236}">
                  <a16:creationId xmlns:a16="http://schemas.microsoft.com/office/drawing/2014/main" id="{915C8354-7E1C-7DB7-F553-79BD2803E487}"/>
                </a:ext>
              </a:extLst>
            </p:cNvPr>
            <p:cNvGrpSpPr/>
            <p:nvPr/>
          </p:nvGrpSpPr>
          <p:grpSpPr>
            <a:xfrm>
              <a:off x="6844019" y="2169367"/>
              <a:ext cx="1519319" cy="517848"/>
              <a:chOff x="6844019" y="2169367"/>
              <a:chExt cx="1519319" cy="517848"/>
            </a:xfrm>
          </p:grpSpPr>
          <p:sp>
            <p:nvSpPr>
              <p:cNvPr id="125" name="Rectangle: Rounded Corners 124">
                <a:extLst>
                  <a:ext uri="{FF2B5EF4-FFF2-40B4-BE49-F238E27FC236}">
                    <a16:creationId xmlns:a16="http://schemas.microsoft.com/office/drawing/2014/main" id="{E6FE7205-7A42-86B2-07AB-982537C0AAE9}"/>
                  </a:ext>
                </a:extLst>
              </p:cNvPr>
              <p:cNvSpPr/>
              <p:nvPr/>
            </p:nvSpPr>
            <p:spPr>
              <a:xfrm>
                <a:off x="6893767" y="2169367"/>
                <a:ext cx="1469571" cy="517848"/>
              </a:xfrm>
              <a:prstGeom prst="roundRect">
                <a:avLst>
                  <a:gd name="adj" fmla="val 10810"/>
                </a:avLst>
              </a:prstGeom>
              <a:solidFill>
                <a:srgbClr val="FAECE7"/>
              </a:solidFill>
              <a:ln w="3495" cap="flat">
                <a:solidFill>
                  <a:srgbClr val="993C1D"/>
                </a:solidFill>
                <a:prstDash val="solid"/>
                <a:miter/>
              </a:ln>
            </p:spPr>
          </p:sp>
          <p:sp>
            <p:nvSpPr>
              <p:cNvPr id="126" name="TextBox 125">
                <a:extLst>
                  <a:ext uri="{FF2B5EF4-FFF2-40B4-BE49-F238E27FC236}">
                    <a16:creationId xmlns:a16="http://schemas.microsoft.com/office/drawing/2014/main" id="{810F837A-E231-9394-77B2-CF2613A48EAF}"/>
                  </a:ext>
                </a:extLst>
              </p:cNvPr>
              <p:cNvSpPr txBox="1"/>
              <p:nvPr/>
            </p:nvSpPr>
            <p:spPr>
              <a:xfrm>
                <a:off x="7183843" y="2293137"/>
                <a:ext cx="923651" cy="230832"/>
              </a:xfrm>
              <a:prstGeom prst="rect">
                <a:avLst/>
              </a:prstGeom>
              <a:noFill/>
            </p:spPr>
            <p:txBody>
              <a:bodyPr wrap="none" rtlCol="0">
                <a:spAutoFit/>
              </a:bodyPr>
              <a:lstStyle/>
              <a:p>
                <a:pPr algn="l"/>
                <a:r>
                  <a:rPr lang="en-IN" sz="900" spc="0" baseline="0" dirty="0">
                    <a:ln/>
                    <a:solidFill>
                      <a:srgbClr val="712B13"/>
                    </a:solidFill>
                    <a:latin typeface="Segoe UI"/>
                    <a:cs typeface="Segoe UI"/>
                    <a:sym typeface="Segoe UI"/>
                    <a:rtl val="0"/>
                  </a:rPr>
                  <a:t>Loan specialist</a:t>
                </a:r>
              </a:p>
            </p:txBody>
          </p:sp>
          <p:sp>
            <p:nvSpPr>
              <p:cNvPr id="128" name="TextBox 127">
                <a:extLst>
                  <a:ext uri="{FF2B5EF4-FFF2-40B4-BE49-F238E27FC236}">
                    <a16:creationId xmlns:a16="http://schemas.microsoft.com/office/drawing/2014/main" id="{1B716596-FE53-7296-11E4-F4C7A09F8385}"/>
                  </a:ext>
                </a:extLst>
              </p:cNvPr>
              <p:cNvSpPr txBox="1"/>
              <p:nvPr/>
            </p:nvSpPr>
            <p:spPr>
              <a:xfrm>
                <a:off x="6844019" y="2430734"/>
                <a:ext cx="184731" cy="230832"/>
              </a:xfrm>
              <a:prstGeom prst="rect">
                <a:avLst/>
              </a:prstGeom>
              <a:noFill/>
            </p:spPr>
            <p:txBody>
              <a:bodyPr wrap="none" rtlCol="0">
                <a:spAutoFit/>
              </a:bodyPr>
              <a:lstStyle/>
              <a:p>
                <a:pPr algn="l"/>
                <a:endParaRPr lang="en-IN" sz="900" spc="0" baseline="0" dirty="0">
                  <a:ln/>
                  <a:solidFill>
                    <a:srgbClr val="993C1D"/>
                  </a:solidFill>
                  <a:latin typeface="Segoe UI"/>
                  <a:cs typeface="Segoe UI"/>
                  <a:sym typeface="Segoe UI"/>
                  <a:rtl val="0"/>
                </a:endParaRPr>
              </a:p>
            </p:txBody>
          </p:sp>
        </p:grpSp>
        <p:sp>
          <p:nvSpPr>
            <p:cNvPr id="129" name="Freeform: Shape 128">
              <a:extLst>
                <a:ext uri="{FF2B5EF4-FFF2-40B4-BE49-F238E27FC236}">
                  <a16:creationId xmlns:a16="http://schemas.microsoft.com/office/drawing/2014/main" id="{17B342E0-944B-0A25-FB7C-CB51A1D9D1E6}"/>
                </a:ext>
              </a:extLst>
            </p:cNvPr>
            <p:cNvSpPr/>
            <p:nvPr/>
          </p:nvSpPr>
          <p:spPr>
            <a:xfrm>
              <a:off x="4563447" y="1455575"/>
              <a:ext cx="622818" cy="706793"/>
            </a:xfrm>
            <a:custGeom>
              <a:avLst/>
              <a:gdLst>
                <a:gd name="csX0" fmla="*/ 622818 w 622818"/>
                <a:gd name="csY0" fmla="*/ 0 h 706793"/>
                <a:gd name="csX1" fmla="*/ 0 w 622818"/>
                <a:gd name="csY1" fmla="*/ 0 h 706793"/>
                <a:gd name="csX2" fmla="*/ 0 w 622818"/>
                <a:gd name="csY2" fmla="*/ 706794 h 706793"/>
              </a:gdLst>
              <a:ahLst/>
              <a:cxnLst>
                <a:cxn ang="0">
                  <a:pos x="csX0" y="csY0"/>
                </a:cxn>
                <a:cxn ang="0">
                  <a:pos x="csX1" y="csY1"/>
                </a:cxn>
                <a:cxn ang="0">
                  <a:pos x="csX2" y="csY2"/>
                </a:cxn>
              </a:cxnLst>
              <a:rect l="l" t="t" r="r" b="b"/>
              <a:pathLst>
                <a:path w="622818" h="706793">
                  <a:moveTo>
                    <a:pt x="622818" y="0"/>
                  </a:moveTo>
                  <a:lnTo>
                    <a:pt x="0" y="0"/>
                  </a:lnTo>
                  <a:lnTo>
                    <a:pt x="0" y="706794"/>
                  </a:lnTo>
                </a:path>
              </a:pathLst>
            </a:custGeom>
            <a:noFill/>
            <a:ln w="6990" cap="flat">
              <a:solidFill>
                <a:srgbClr val="D85A30">
                  <a:alpha val="50000"/>
                </a:srgbClr>
              </a:solidFill>
              <a:prstDash val="solid"/>
              <a:miter/>
            </a:ln>
          </p:spPr>
        </p:sp>
        <p:sp>
          <p:nvSpPr>
            <p:cNvPr id="130" name="Freeform: Shape 129">
              <a:extLst>
                <a:ext uri="{FF2B5EF4-FFF2-40B4-BE49-F238E27FC236}">
                  <a16:creationId xmlns:a16="http://schemas.microsoft.com/office/drawing/2014/main" id="{7506EDAF-02C1-26F6-F434-D126AEB63C93}"/>
                </a:ext>
              </a:extLst>
            </p:cNvPr>
            <p:cNvSpPr/>
            <p:nvPr/>
          </p:nvSpPr>
          <p:spPr>
            <a:xfrm>
              <a:off x="7037134" y="1455575"/>
              <a:ext cx="622818" cy="706793"/>
            </a:xfrm>
            <a:custGeom>
              <a:avLst/>
              <a:gdLst>
                <a:gd name="csX0" fmla="*/ 0 w 622818"/>
                <a:gd name="csY0" fmla="*/ 0 h 706793"/>
                <a:gd name="csX1" fmla="*/ 622818 w 622818"/>
                <a:gd name="csY1" fmla="*/ 0 h 706793"/>
                <a:gd name="csX2" fmla="*/ 622818 w 622818"/>
                <a:gd name="csY2" fmla="*/ 706794 h 706793"/>
              </a:gdLst>
              <a:ahLst/>
              <a:cxnLst>
                <a:cxn ang="0">
                  <a:pos x="csX0" y="csY0"/>
                </a:cxn>
                <a:cxn ang="0">
                  <a:pos x="csX1" y="csY1"/>
                </a:cxn>
                <a:cxn ang="0">
                  <a:pos x="csX2" y="csY2"/>
                </a:cxn>
              </a:cxnLst>
              <a:rect l="l" t="t" r="r" b="b"/>
              <a:pathLst>
                <a:path w="622818" h="706793">
                  <a:moveTo>
                    <a:pt x="0" y="0"/>
                  </a:moveTo>
                  <a:lnTo>
                    <a:pt x="622818" y="0"/>
                  </a:lnTo>
                  <a:lnTo>
                    <a:pt x="622818" y="706794"/>
                  </a:lnTo>
                </a:path>
              </a:pathLst>
            </a:custGeom>
            <a:noFill/>
            <a:ln w="6990" cap="flat">
              <a:solidFill>
                <a:srgbClr val="D85A30">
                  <a:alpha val="50000"/>
                </a:srgbClr>
              </a:solidFill>
              <a:prstDash val="solid"/>
              <a:miter/>
            </a:ln>
          </p:spPr>
        </p:sp>
        <p:grpSp>
          <p:nvGrpSpPr>
            <p:cNvPr id="131" name="Graphic 4">
              <a:extLst>
                <a:ext uri="{FF2B5EF4-FFF2-40B4-BE49-F238E27FC236}">
                  <a16:creationId xmlns:a16="http://schemas.microsoft.com/office/drawing/2014/main" id="{16682331-791E-43A5-5FCB-8A89728BAE3C}"/>
                </a:ext>
              </a:extLst>
            </p:cNvPr>
            <p:cNvGrpSpPr/>
            <p:nvPr/>
          </p:nvGrpSpPr>
          <p:grpSpPr>
            <a:xfrm>
              <a:off x="3856653" y="3079102"/>
              <a:ext cx="1441579" cy="453873"/>
              <a:chOff x="3856653" y="3079102"/>
              <a:chExt cx="1441579" cy="453873"/>
            </a:xfrm>
          </p:grpSpPr>
          <p:sp>
            <p:nvSpPr>
              <p:cNvPr id="132" name="Rectangle: Rounded Corners 131">
                <a:extLst>
                  <a:ext uri="{FF2B5EF4-FFF2-40B4-BE49-F238E27FC236}">
                    <a16:creationId xmlns:a16="http://schemas.microsoft.com/office/drawing/2014/main" id="{6DD6CCD5-10E7-6488-84D4-E302CF0F4180}"/>
                  </a:ext>
                </a:extLst>
              </p:cNvPr>
              <p:cNvSpPr/>
              <p:nvPr/>
            </p:nvSpPr>
            <p:spPr>
              <a:xfrm>
                <a:off x="3856653" y="3079102"/>
                <a:ext cx="1441579" cy="433873"/>
              </a:xfrm>
              <a:prstGeom prst="roundRect">
                <a:avLst>
                  <a:gd name="adj" fmla="val 12903"/>
                </a:avLst>
              </a:prstGeom>
              <a:solidFill>
                <a:srgbClr val="F1EFE8"/>
              </a:solidFill>
              <a:ln w="3495" cap="flat">
                <a:solidFill>
                  <a:srgbClr val="5F5E5A"/>
                </a:solidFill>
                <a:prstDash val="solid"/>
                <a:miter/>
              </a:ln>
            </p:spPr>
          </p:sp>
          <p:sp>
            <p:nvSpPr>
              <p:cNvPr id="133" name="TextBox 132">
                <a:extLst>
                  <a:ext uri="{FF2B5EF4-FFF2-40B4-BE49-F238E27FC236}">
                    <a16:creationId xmlns:a16="http://schemas.microsoft.com/office/drawing/2014/main" id="{390634CF-427C-9010-5201-E55BFFCB9BBA}"/>
                  </a:ext>
                </a:extLst>
              </p:cNvPr>
              <p:cNvSpPr txBox="1"/>
              <p:nvPr/>
            </p:nvSpPr>
            <p:spPr>
              <a:xfrm>
                <a:off x="4104645" y="3233107"/>
                <a:ext cx="1021433" cy="230832"/>
              </a:xfrm>
              <a:prstGeom prst="rect">
                <a:avLst/>
              </a:prstGeom>
              <a:noFill/>
            </p:spPr>
            <p:txBody>
              <a:bodyPr wrap="none" rtlCol="0">
                <a:spAutoFit/>
              </a:bodyPr>
              <a:lstStyle/>
              <a:p>
                <a:pPr algn="l"/>
                <a:r>
                  <a:rPr lang="en-IN" sz="900" spc="0" baseline="0" dirty="0">
                    <a:ln/>
                    <a:solidFill>
                      <a:srgbClr val="444441"/>
                    </a:solidFill>
                    <a:latin typeface="Segoe UI"/>
                    <a:cs typeface="Segoe UI"/>
                    <a:sym typeface="Segoe UI"/>
                    <a:rtl val="0"/>
                  </a:rPr>
                  <a:t>Knowledge base</a:t>
                </a:r>
              </a:p>
            </p:txBody>
          </p:sp>
          <p:sp>
            <p:nvSpPr>
              <p:cNvPr id="135" name="TextBox 134">
                <a:extLst>
                  <a:ext uri="{FF2B5EF4-FFF2-40B4-BE49-F238E27FC236}">
                    <a16:creationId xmlns:a16="http://schemas.microsoft.com/office/drawing/2014/main" id="{3430A236-260B-9897-BB9D-C9EF79DBFD81}"/>
                  </a:ext>
                </a:extLst>
              </p:cNvPr>
              <p:cNvSpPr txBox="1"/>
              <p:nvPr/>
            </p:nvSpPr>
            <p:spPr>
              <a:xfrm>
                <a:off x="3927848" y="3302143"/>
                <a:ext cx="184731" cy="230832"/>
              </a:xfrm>
              <a:prstGeom prst="rect">
                <a:avLst/>
              </a:prstGeom>
              <a:noFill/>
            </p:spPr>
            <p:txBody>
              <a:bodyPr wrap="none" rtlCol="0">
                <a:spAutoFit/>
              </a:bodyPr>
              <a:lstStyle/>
              <a:p>
                <a:pPr algn="l"/>
                <a:endParaRPr lang="en-IN" sz="900" spc="0" baseline="0" dirty="0">
                  <a:ln/>
                  <a:solidFill>
                    <a:srgbClr val="5F5E5A"/>
                  </a:solidFill>
                  <a:latin typeface="Segoe UI"/>
                  <a:cs typeface="Segoe UI"/>
                  <a:sym typeface="Segoe UI"/>
                  <a:rtl val="0"/>
                </a:endParaRPr>
              </a:p>
            </p:txBody>
          </p:sp>
        </p:grpSp>
        <p:sp>
          <p:nvSpPr>
            <p:cNvPr id="136" name="Freeform: Shape 135">
              <a:extLst>
                <a:ext uri="{FF2B5EF4-FFF2-40B4-BE49-F238E27FC236}">
                  <a16:creationId xmlns:a16="http://schemas.microsoft.com/office/drawing/2014/main" id="{79F0A76F-3A22-A63A-FF78-DB1FFF138BEA}"/>
                </a:ext>
              </a:extLst>
            </p:cNvPr>
            <p:cNvSpPr/>
            <p:nvPr/>
          </p:nvSpPr>
          <p:spPr>
            <a:xfrm>
              <a:off x="4563447" y="2687216"/>
              <a:ext cx="13995" cy="384887"/>
            </a:xfrm>
            <a:custGeom>
              <a:avLst/>
              <a:gdLst>
                <a:gd name="csX0" fmla="*/ 0 w 13995"/>
                <a:gd name="csY0" fmla="*/ 0 h 384887"/>
                <a:gd name="csX1" fmla="*/ 13996 w 13995"/>
                <a:gd name="csY1" fmla="*/ 384888 h 384887"/>
              </a:gdLst>
              <a:ahLst/>
              <a:cxnLst>
                <a:cxn ang="0">
                  <a:pos x="csX0" y="csY0"/>
                </a:cxn>
                <a:cxn ang="0">
                  <a:pos x="csX1" y="csY1"/>
                </a:cxn>
              </a:cxnLst>
              <a:rect l="l" t="t" r="r" b="b"/>
              <a:pathLst>
                <a:path w="13995" h="384887">
                  <a:moveTo>
                    <a:pt x="0" y="0"/>
                  </a:moveTo>
                  <a:lnTo>
                    <a:pt x="13996" y="384888"/>
                  </a:lnTo>
                </a:path>
              </a:pathLst>
            </a:custGeom>
            <a:ln w="6990" cap="flat">
              <a:solidFill>
                <a:srgbClr val="888780">
                  <a:alpha val="50000"/>
                </a:srgbClr>
              </a:solidFill>
              <a:prstDash val="solid"/>
              <a:miter/>
            </a:ln>
          </p:spPr>
        </p:sp>
        <p:grpSp>
          <p:nvGrpSpPr>
            <p:cNvPr id="137" name="Graphic 4">
              <a:extLst>
                <a:ext uri="{FF2B5EF4-FFF2-40B4-BE49-F238E27FC236}">
                  <a16:creationId xmlns:a16="http://schemas.microsoft.com/office/drawing/2014/main" id="{92379D69-8414-2A55-8420-5F2A12F68AB3}"/>
                </a:ext>
              </a:extLst>
            </p:cNvPr>
            <p:cNvGrpSpPr/>
            <p:nvPr/>
          </p:nvGrpSpPr>
          <p:grpSpPr>
            <a:xfrm>
              <a:off x="6790446" y="3079102"/>
              <a:ext cx="775124" cy="439406"/>
              <a:chOff x="6790446" y="3079102"/>
              <a:chExt cx="775124" cy="439406"/>
            </a:xfrm>
          </p:grpSpPr>
          <p:sp>
            <p:nvSpPr>
              <p:cNvPr id="138" name="Rectangle: Rounded Corners 137">
                <a:extLst>
                  <a:ext uri="{FF2B5EF4-FFF2-40B4-BE49-F238E27FC236}">
                    <a16:creationId xmlns:a16="http://schemas.microsoft.com/office/drawing/2014/main" id="{7CD788F9-524B-8E48-181B-ABF093B462FC}"/>
                  </a:ext>
                </a:extLst>
              </p:cNvPr>
              <p:cNvSpPr/>
              <p:nvPr/>
            </p:nvSpPr>
            <p:spPr>
              <a:xfrm>
                <a:off x="6865775" y="3079102"/>
                <a:ext cx="699795" cy="433873"/>
              </a:xfrm>
              <a:prstGeom prst="roundRect">
                <a:avLst>
                  <a:gd name="adj" fmla="val 12903"/>
                </a:avLst>
              </a:prstGeom>
              <a:solidFill>
                <a:srgbClr val="F1EFE8"/>
              </a:solidFill>
              <a:ln w="3495" cap="flat">
                <a:solidFill>
                  <a:srgbClr val="5F5E5A"/>
                </a:solidFill>
                <a:prstDash val="solid"/>
                <a:miter/>
              </a:ln>
            </p:spPr>
          </p:sp>
          <p:sp>
            <p:nvSpPr>
              <p:cNvPr id="139" name="TextBox 138">
                <a:extLst>
                  <a:ext uri="{FF2B5EF4-FFF2-40B4-BE49-F238E27FC236}">
                    <a16:creationId xmlns:a16="http://schemas.microsoft.com/office/drawing/2014/main" id="{FFF6658B-BC87-1D4B-A4E7-169B54A42DFA}"/>
                  </a:ext>
                </a:extLst>
              </p:cNvPr>
              <p:cNvSpPr txBox="1"/>
              <p:nvPr/>
            </p:nvSpPr>
            <p:spPr>
              <a:xfrm>
                <a:off x="6893695" y="3192561"/>
                <a:ext cx="609462" cy="230832"/>
              </a:xfrm>
              <a:prstGeom prst="rect">
                <a:avLst/>
              </a:prstGeom>
              <a:noFill/>
            </p:spPr>
            <p:txBody>
              <a:bodyPr wrap="none" rtlCol="0">
                <a:spAutoFit/>
              </a:bodyPr>
              <a:lstStyle/>
              <a:p>
                <a:pPr algn="l"/>
                <a:r>
                  <a:rPr lang="en-IN" sz="900" spc="0" baseline="0" dirty="0">
                    <a:ln/>
                    <a:solidFill>
                      <a:srgbClr val="444441"/>
                    </a:solidFill>
                    <a:latin typeface="Segoe UI"/>
                    <a:cs typeface="Segoe UI"/>
                    <a:sym typeface="Segoe UI"/>
                    <a:rtl val="0"/>
                  </a:rPr>
                  <a:t>Loan DB</a:t>
                </a:r>
              </a:p>
            </p:txBody>
          </p:sp>
          <p:sp>
            <p:nvSpPr>
              <p:cNvPr id="140" name="TextBox 139">
                <a:extLst>
                  <a:ext uri="{FF2B5EF4-FFF2-40B4-BE49-F238E27FC236}">
                    <a16:creationId xmlns:a16="http://schemas.microsoft.com/office/drawing/2014/main" id="{303C90CD-69F0-3150-54BE-4653916DC281}"/>
                  </a:ext>
                </a:extLst>
              </p:cNvPr>
              <p:cNvSpPr txBox="1"/>
              <p:nvPr/>
            </p:nvSpPr>
            <p:spPr>
              <a:xfrm>
                <a:off x="6790446" y="3180694"/>
                <a:ext cx="184731" cy="230832"/>
              </a:xfrm>
              <a:prstGeom prst="rect">
                <a:avLst/>
              </a:prstGeom>
              <a:noFill/>
            </p:spPr>
            <p:txBody>
              <a:bodyPr wrap="none" rtlCol="0">
                <a:spAutoFit/>
              </a:bodyPr>
              <a:lstStyle/>
              <a:p>
                <a:pPr algn="l"/>
                <a:endParaRPr lang="en-IN" sz="900" spc="0" baseline="0" dirty="0">
                  <a:ln/>
                  <a:solidFill>
                    <a:srgbClr val="5F5E5A"/>
                  </a:solidFill>
                  <a:latin typeface="Segoe UI"/>
                  <a:cs typeface="Segoe UI"/>
                  <a:sym typeface="Segoe UI"/>
                  <a:rtl val="0"/>
                </a:endParaRPr>
              </a:p>
            </p:txBody>
          </p:sp>
          <p:sp>
            <p:nvSpPr>
              <p:cNvPr id="141" name="TextBox 140">
                <a:extLst>
                  <a:ext uri="{FF2B5EF4-FFF2-40B4-BE49-F238E27FC236}">
                    <a16:creationId xmlns:a16="http://schemas.microsoft.com/office/drawing/2014/main" id="{71CA5E6D-8F0F-F1A0-FDDC-1266B40DA580}"/>
                  </a:ext>
                </a:extLst>
              </p:cNvPr>
              <p:cNvSpPr txBox="1"/>
              <p:nvPr/>
            </p:nvSpPr>
            <p:spPr>
              <a:xfrm>
                <a:off x="6945981" y="3287676"/>
                <a:ext cx="184731" cy="230832"/>
              </a:xfrm>
              <a:prstGeom prst="rect">
                <a:avLst/>
              </a:prstGeom>
              <a:noFill/>
            </p:spPr>
            <p:txBody>
              <a:bodyPr wrap="none" rtlCol="0">
                <a:spAutoFit/>
              </a:bodyPr>
              <a:lstStyle/>
              <a:p>
                <a:pPr algn="l"/>
                <a:endParaRPr lang="en-IN" sz="900" spc="0" baseline="0" dirty="0">
                  <a:ln/>
                  <a:solidFill>
                    <a:srgbClr val="5F5E5A"/>
                  </a:solidFill>
                  <a:latin typeface="Segoe UI"/>
                  <a:cs typeface="Segoe UI"/>
                  <a:sym typeface="Segoe UI"/>
                  <a:rtl val="0"/>
                </a:endParaRPr>
              </a:p>
            </p:txBody>
          </p:sp>
        </p:grpSp>
        <p:grpSp>
          <p:nvGrpSpPr>
            <p:cNvPr id="142" name="Graphic 4">
              <a:extLst>
                <a:ext uri="{FF2B5EF4-FFF2-40B4-BE49-F238E27FC236}">
                  <a16:creationId xmlns:a16="http://schemas.microsoft.com/office/drawing/2014/main" id="{41BEC205-155C-D3C2-CE3C-A7A210703EE9}"/>
                </a:ext>
              </a:extLst>
            </p:cNvPr>
            <p:cNvGrpSpPr/>
            <p:nvPr/>
          </p:nvGrpSpPr>
          <p:grpSpPr>
            <a:xfrm>
              <a:off x="7592745" y="3079102"/>
              <a:ext cx="881973" cy="447941"/>
              <a:chOff x="7592745" y="3079102"/>
              <a:chExt cx="881973" cy="447941"/>
            </a:xfrm>
          </p:grpSpPr>
          <p:sp>
            <p:nvSpPr>
              <p:cNvPr id="143" name="Rectangle: Rounded Corners 142">
                <a:extLst>
                  <a:ext uri="{FF2B5EF4-FFF2-40B4-BE49-F238E27FC236}">
                    <a16:creationId xmlns:a16="http://schemas.microsoft.com/office/drawing/2014/main" id="{F962C286-BE3F-0951-4C00-3917647A07E6}"/>
                  </a:ext>
                </a:extLst>
              </p:cNvPr>
              <p:cNvSpPr/>
              <p:nvPr/>
            </p:nvSpPr>
            <p:spPr>
              <a:xfrm>
                <a:off x="7663542" y="3079102"/>
                <a:ext cx="699795" cy="433873"/>
              </a:xfrm>
              <a:prstGeom prst="roundRect">
                <a:avLst>
                  <a:gd name="adj" fmla="val 12903"/>
                </a:avLst>
              </a:prstGeom>
              <a:solidFill>
                <a:srgbClr val="F1EFE8"/>
              </a:solidFill>
              <a:ln w="3495" cap="flat">
                <a:solidFill>
                  <a:srgbClr val="5F5E5A"/>
                </a:solidFill>
                <a:prstDash val="solid"/>
                <a:miter/>
              </a:ln>
            </p:spPr>
          </p:sp>
          <p:sp>
            <p:nvSpPr>
              <p:cNvPr id="144" name="TextBox 143">
                <a:extLst>
                  <a:ext uri="{FF2B5EF4-FFF2-40B4-BE49-F238E27FC236}">
                    <a16:creationId xmlns:a16="http://schemas.microsoft.com/office/drawing/2014/main" id="{49933F80-7A04-FCC8-9668-0238ECC5EA6C}"/>
                  </a:ext>
                </a:extLst>
              </p:cNvPr>
              <p:cNvSpPr txBox="1"/>
              <p:nvPr/>
            </p:nvSpPr>
            <p:spPr>
              <a:xfrm>
                <a:off x="7592745" y="3187692"/>
                <a:ext cx="881973" cy="230832"/>
              </a:xfrm>
              <a:prstGeom prst="rect">
                <a:avLst/>
              </a:prstGeom>
              <a:noFill/>
            </p:spPr>
            <p:txBody>
              <a:bodyPr wrap="none" rtlCol="0">
                <a:spAutoFit/>
              </a:bodyPr>
              <a:lstStyle/>
              <a:p>
                <a:pPr algn="l"/>
                <a:r>
                  <a:rPr lang="en-IN" sz="900" spc="0" baseline="0" dirty="0">
                    <a:ln/>
                    <a:solidFill>
                      <a:srgbClr val="444441"/>
                    </a:solidFill>
                    <a:latin typeface="Segoe UI"/>
                    <a:cs typeface="Segoe UI"/>
                    <a:sym typeface="Segoe UI"/>
                    <a:rtl val="0"/>
                  </a:rPr>
                  <a:t>Credit bureau</a:t>
                </a:r>
              </a:p>
            </p:txBody>
          </p:sp>
          <p:sp>
            <p:nvSpPr>
              <p:cNvPr id="145" name="TextBox 144">
                <a:extLst>
                  <a:ext uri="{FF2B5EF4-FFF2-40B4-BE49-F238E27FC236}">
                    <a16:creationId xmlns:a16="http://schemas.microsoft.com/office/drawing/2014/main" id="{0D0A7D19-D166-48FE-D7FD-4D8D9FD8FA9F}"/>
                  </a:ext>
                </a:extLst>
              </p:cNvPr>
              <p:cNvSpPr txBox="1"/>
              <p:nvPr/>
            </p:nvSpPr>
            <p:spPr>
              <a:xfrm>
                <a:off x="7621280" y="3180694"/>
                <a:ext cx="184731" cy="230832"/>
              </a:xfrm>
              <a:prstGeom prst="rect">
                <a:avLst/>
              </a:prstGeom>
              <a:noFill/>
            </p:spPr>
            <p:txBody>
              <a:bodyPr wrap="none" rtlCol="0">
                <a:spAutoFit/>
              </a:bodyPr>
              <a:lstStyle/>
              <a:p>
                <a:pPr algn="l"/>
                <a:endParaRPr lang="en-IN" sz="900" spc="0" baseline="0" dirty="0">
                  <a:ln/>
                  <a:solidFill>
                    <a:srgbClr val="5F5E5A"/>
                  </a:solidFill>
                  <a:latin typeface="Segoe UI"/>
                  <a:cs typeface="Segoe UI"/>
                  <a:sym typeface="Segoe UI"/>
                  <a:rtl val="0"/>
                </a:endParaRPr>
              </a:p>
            </p:txBody>
          </p:sp>
          <p:sp>
            <p:nvSpPr>
              <p:cNvPr id="146" name="TextBox 145">
                <a:extLst>
                  <a:ext uri="{FF2B5EF4-FFF2-40B4-BE49-F238E27FC236}">
                    <a16:creationId xmlns:a16="http://schemas.microsoft.com/office/drawing/2014/main" id="{B5E91C86-8B75-6F20-DDA5-BA783C17FF89}"/>
                  </a:ext>
                </a:extLst>
              </p:cNvPr>
              <p:cNvSpPr txBox="1"/>
              <p:nvPr/>
            </p:nvSpPr>
            <p:spPr>
              <a:xfrm>
                <a:off x="7626483" y="3296211"/>
                <a:ext cx="184731" cy="230832"/>
              </a:xfrm>
              <a:prstGeom prst="rect">
                <a:avLst/>
              </a:prstGeom>
              <a:noFill/>
            </p:spPr>
            <p:txBody>
              <a:bodyPr wrap="none" rtlCol="0">
                <a:spAutoFit/>
              </a:bodyPr>
              <a:lstStyle/>
              <a:p>
                <a:pPr algn="l"/>
                <a:endParaRPr lang="en-IN" sz="900" spc="0" baseline="0" dirty="0">
                  <a:ln/>
                  <a:solidFill>
                    <a:srgbClr val="5F5E5A"/>
                  </a:solidFill>
                  <a:latin typeface="Segoe UI"/>
                  <a:cs typeface="Segoe UI"/>
                  <a:sym typeface="Segoe UI"/>
                  <a:rtl val="0"/>
                </a:endParaRPr>
              </a:p>
            </p:txBody>
          </p:sp>
        </p:grpSp>
        <p:sp>
          <p:nvSpPr>
            <p:cNvPr id="147" name="Freeform: Shape 146">
              <a:extLst>
                <a:ext uri="{FF2B5EF4-FFF2-40B4-BE49-F238E27FC236}">
                  <a16:creationId xmlns:a16="http://schemas.microsoft.com/office/drawing/2014/main" id="{0DFDA001-2B04-7495-7E51-FC9CC9C873A1}"/>
                </a:ext>
              </a:extLst>
            </p:cNvPr>
            <p:cNvSpPr/>
            <p:nvPr/>
          </p:nvSpPr>
          <p:spPr>
            <a:xfrm>
              <a:off x="7250663" y="2687216"/>
              <a:ext cx="104969" cy="384887"/>
            </a:xfrm>
            <a:custGeom>
              <a:avLst/>
              <a:gdLst>
                <a:gd name="csX0" fmla="*/ 104969 w 104969"/>
                <a:gd name="csY0" fmla="*/ 0 h 384887"/>
                <a:gd name="csX1" fmla="*/ 0 w 104969"/>
                <a:gd name="csY1" fmla="*/ 384888 h 384887"/>
              </a:gdLst>
              <a:ahLst/>
              <a:cxnLst>
                <a:cxn ang="0">
                  <a:pos x="csX0" y="csY0"/>
                </a:cxn>
                <a:cxn ang="0">
                  <a:pos x="csX1" y="csY1"/>
                </a:cxn>
              </a:cxnLst>
              <a:rect l="l" t="t" r="r" b="b"/>
              <a:pathLst>
                <a:path w="104969" h="384887">
                  <a:moveTo>
                    <a:pt x="104969" y="0"/>
                  </a:moveTo>
                  <a:lnTo>
                    <a:pt x="0" y="384888"/>
                  </a:lnTo>
                </a:path>
              </a:pathLst>
            </a:custGeom>
            <a:ln w="6990" cap="flat">
              <a:solidFill>
                <a:srgbClr val="888780">
                  <a:alpha val="45000"/>
                </a:srgbClr>
              </a:solidFill>
              <a:prstDash val="solid"/>
              <a:miter/>
            </a:ln>
          </p:spPr>
        </p:sp>
        <p:sp>
          <p:nvSpPr>
            <p:cNvPr id="148" name="Freeform: Shape 147">
              <a:extLst>
                <a:ext uri="{FF2B5EF4-FFF2-40B4-BE49-F238E27FC236}">
                  <a16:creationId xmlns:a16="http://schemas.microsoft.com/office/drawing/2014/main" id="{3EB3C2D8-D973-268F-79AA-9C789BD182E1}"/>
                </a:ext>
              </a:extLst>
            </p:cNvPr>
            <p:cNvSpPr/>
            <p:nvPr/>
          </p:nvSpPr>
          <p:spPr>
            <a:xfrm>
              <a:off x="7915469" y="2687216"/>
              <a:ext cx="97971" cy="384887"/>
            </a:xfrm>
            <a:custGeom>
              <a:avLst/>
              <a:gdLst>
                <a:gd name="csX0" fmla="*/ 0 w 97971"/>
                <a:gd name="csY0" fmla="*/ 0 h 384887"/>
                <a:gd name="csX1" fmla="*/ 97971 w 97971"/>
                <a:gd name="csY1" fmla="*/ 384888 h 384887"/>
              </a:gdLst>
              <a:ahLst/>
              <a:cxnLst>
                <a:cxn ang="0">
                  <a:pos x="csX0" y="csY0"/>
                </a:cxn>
                <a:cxn ang="0">
                  <a:pos x="csX1" y="csY1"/>
                </a:cxn>
              </a:cxnLst>
              <a:rect l="l" t="t" r="r" b="b"/>
              <a:pathLst>
                <a:path w="97971" h="384887">
                  <a:moveTo>
                    <a:pt x="0" y="0"/>
                  </a:moveTo>
                  <a:lnTo>
                    <a:pt x="97971" y="384888"/>
                  </a:lnTo>
                </a:path>
              </a:pathLst>
            </a:custGeom>
            <a:ln w="6990" cap="flat">
              <a:solidFill>
                <a:srgbClr val="888780">
                  <a:alpha val="45000"/>
                </a:srgbClr>
              </a:solidFill>
              <a:prstDash val="solid"/>
              <a:miter/>
            </a:ln>
          </p:spPr>
        </p:sp>
        <p:grpSp>
          <p:nvGrpSpPr>
            <p:cNvPr id="149" name="Graphic 4">
              <a:extLst>
                <a:ext uri="{FF2B5EF4-FFF2-40B4-BE49-F238E27FC236}">
                  <a16:creationId xmlns:a16="http://schemas.microsoft.com/office/drawing/2014/main" id="{017FF449-F69C-6005-626B-FFDDEFD74BA4}"/>
                </a:ext>
              </a:extLst>
            </p:cNvPr>
            <p:cNvGrpSpPr/>
            <p:nvPr/>
          </p:nvGrpSpPr>
          <p:grpSpPr>
            <a:xfrm>
              <a:off x="3828661" y="4016828"/>
              <a:ext cx="1469571" cy="517848"/>
              <a:chOff x="3828661" y="4016828"/>
              <a:chExt cx="1469571" cy="517848"/>
            </a:xfrm>
          </p:grpSpPr>
          <p:sp>
            <p:nvSpPr>
              <p:cNvPr id="150" name="Rectangle: Rounded Corners 149">
                <a:extLst>
                  <a:ext uri="{FF2B5EF4-FFF2-40B4-BE49-F238E27FC236}">
                    <a16:creationId xmlns:a16="http://schemas.microsoft.com/office/drawing/2014/main" id="{B5B18BB1-F77A-3BC2-D317-F5D063044BD5}"/>
                  </a:ext>
                </a:extLst>
              </p:cNvPr>
              <p:cNvSpPr/>
              <p:nvPr/>
            </p:nvSpPr>
            <p:spPr>
              <a:xfrm>
                <a:off x="3828661" y="4016828"/>
                <a:ext cx="1469571" cy="517848"/>
              </a:xfrm>
              <a:prstGeom prst="roundRect">
                <a:avLst>
                  <a:gd name="adj" fmla="val 10810"/>
                </a:avLst>
              </a:prstGeom>
              <a:solidFill>
                <a:srgbClr val="FAEEDA"/>
              </a:solidFill>
              <a:ln w="3495" cap="flat">
                <a:solidFill>
                  <a:srgbClr val="854F0B"/>
                </a:solidFill>
                <a:prstDash val="solid"/>
                <a:miter/>
              </a:ln>
            </p:spPr>
          </p:sp>
          <p:sp>
            <p:nvSpPr>
              <p:cNvPr id="151" name="TextBox 150">
                <a:extLst>
                  <a:ext uri="{FF2B5EF4-FFF2-40B4-BE49-F238E27FC236}">
                    <a16:creationId xmlns:a16="http://schemas.microsoft.com/office/drawing/2014/main" id="{754A4432-6DB2-A5BC-4C9B-D0873DF48AE2}"/>
                  </a:ext>
                </a:extLst>
              </p:cNvPr>
              <p:cNvSpPr txBox="1"/>
              <p:nvPr/>
            </p:nvSpPr>
            <p:spPr>
              <a:xfrm>
                <a:off x="4166128" y="4152253"/>
                <a:ext cx="947695" cy="230832"/>
              </a:xfrm>
              <a:prstGeom prst="rect">
                <a:avLst/>
              </a:prstGeom>
              <a:noFill/>
            </p:spPr>
            <p:txBody>
              <a:bodyPr wrap="none" rtlCol="0">
                <a:spAutoFit/>
              </a:bodyPr>
              <a:lstStyle/>
              <a:p>
                <a:pPr algn="l"/>
                <a:r>
                  <a:rPr lang="en-IN" sz="900" spc="0" baseline="0" dirty="0">
                    <a:ln/>
                    <a:solidFill>
                      <a:srgbClr val="633806"/>
                    </a:solidFill>
                    <a:latin typeface="Segoe UI"/>
                    <a:cs typeface="Segoe UI"/>
                    <a:sym typeface="Segoe UI"/>
                    <a:rtl val="0"/>
                  </a:rPr>
                  <a:t>Intent classifier</a:t>
                </a:r>
              </a:p>
            </p:txBody>
          </p:sp>
          <p:sp>
            <p:nvSpPr>
              <p:cNvPr id="152" name="TextBox 151">
                <a:extLst>
                  <a:ext uri="{FF2B5EF4-FFF2-40B4-BE49-F238E27FC236}">
                    <a16:creationId xmlns:a16="http://schemas.microsoft.com/office/drawing/2014/main" id="{7C3F7EFC-D751-B940-8DF3-59A252921608}"/>
                  </a:ext>
                </a:extLst>
              </p:cNvPr>
              <p:cNvSpPr txBox="1"/>
              <p:nvPr/>
            </p:nvSpPr>
            <p:spPr>
              <a:xfrm>
                <a:off x="3971467" y="4146001"/>
                <a:ext cx="184731" cy="230832"/>
              </a:xfrm>
              <a:prstGeom prst="rect">
                <a:avLst/>
              </a:prstGeom>
              <a:noFill/>
            </p:spPr>
            <p:txBody>
              <a:bodyPr wrap="none" rtlCol="0">
                <a:spAutoFit/>
              </a:bodyPr>
              <a:lstStyle/>
              <a:p>
                <a:pPr algn="l"/>
                <a:endParaRPr lang="en-IN" sz="900" spc="0" baseline="0" dirty="0">
                  <a:ln/>
                  <a:solidFill>
                    <a:srgbClr val="854F0B"/>
                  </a:solidFill>
                  <a:latin typeface="Segoe UI"/>
                  <a:cs typeface="Segoe UI"/>
                  <a:sym typeface="Segoe UI"/>
                  <a:rtl val="0"/>
                </a:endParaRPr>
              </a:p>
            </p:txBody>
          </p:sp>
          <p:sp>
            <p:nvSpPr>
              <p:cNvPr id="153" name="TextBox 152">
                <a:extLst>
                  <a:ext uri="{FF2B5EF4-FFF2-40B4-BE49-F238E27FC236}">
                    <a16:creationId xmlns:a16="http://schemas.microsoft.com/office/drawing/2014/main" id="{FE57D80D-905C-4CFF-AC2D-BB193ECB9278}"/>
                  </a:ext>
                </a:extLst>
              </p:cNvPr>
              <p:cNvSpPr txBox="1"/>
              <p:nvPr/>
            </p:nvSpPr>
            <p:spPr>
              <a:xfrm>
                <a:off x="4131324" y="4281694"/>
                <a:ext cx="184731" cy="230832"/>
              </a:xfrm>
              <a:prstGeom prst="rect">
                <a:avLst/>
              </a:prstGeom>
              <a:noFill/>
            </p:spPr>
            <p:txBody>
              <a:bodyPr wrap="none" rtlCol="0">
                <a:spAutoFit/>
              </a:bodyPr>
              <a:lstStyle/>
              <a:p>
                <a:pPr algn="l"/>
                <a:endParaRPr lang="en-IN" sz="900" spc="0" baseline="0" dirty="0">
                  <a:ln/>
                  <a:solidFill>
                    <a:srgbClr val="854F0B"/>
                  </a:solidFill>
                  <a:latin typeface="Segoe UI"/>
                  <a:cs typeface="Segoe UI"/>
                  <a:sym typeface="Segoe UI"/>
                  <a:rtl val="0"/>
                </a:endParaRPr>
              </a:p>
            </p:txBody>
          </p:sp>
        </p:grpSp>
        <p:grpSp>
          <p:nvGrpSpPr>
            <p:cNvPr id="154" name="Graphic 4">
              <a:extLst>
                <a:ext uri="{FF2B5EF4-FFF2-40B4-BE49-F238E27FC236}">
                  <a16:creationId xmlns:a16="http://schemas.microsoft.com/office/drawing/2014/main" id="{7E1591FA-C302-9848-ED27-F662CC73E975}"/>
                </a:ext>
              </a:extLst>
            </p:cNvPr>
            <p:cNvGrpSpPr/>
            <p:nvPr/>
          </p:nvGrpSpPr>
          <p:grpSpPr>
            <a:xfrm>
              <a:off x="6893767" y="4016828"/>
              <a:ext cx="1469571" cy="517848"/>
              <a:chOff x="6893767" y="4016828"/>
              <a:chExt cx="1469571" cy="517848"/>
            </a:xfrm>
          </p:grpSpPr>
          <p:sp>
            <p:nvSpPr>
              <p:cNvPr id="155" name="Rectangle: Rounded Corners 154">
                <a:extLst>
                  <a:ext uri="{FF2B5EF4-FFF2-40B4-BE49-F238E27FC236}">
                    <a16:creationId xmlns:a16="http://schemas.microsoft.com/office/drawing/2014/main" id="{7EDD958B-A859-DDDE-6B29-214E44E5B1A3}"/>
                  </a:ext>
                </a:extLst>
              </p:cNvPr>
              <p:cNvSpPr/>
              <p:nvPr/>
            </p:nvSpPr>
            <p:spPr>
              <a:xfrm>
                <a:off x="6893767" y="4016828"/>
                <a:ext cx="1469571" cy="517848"/>
              </a:xfrm>
              <a:prstGeom prst="roundRect">
                <a:avLst>
                  <a:gd name="adj" fmla="val 10810"/>
                </a:avLst>
              </a:prstGeom>
              <a:solidFill>
                <a:srgbClr val="FAEEDA"/>
              </a:solidFill>
              <a:ln w="3495" cap="flat">
                <a:solidFill>
                  <a:srgbClr val="854F0B"/>
                </a:solidFill>
                <a:prstDash val="solid"/>
                <a:miter/>
              </a:ln>
            </p:spPr>
          </p:sp>
          <p:sp>
            <p:nvSpPr>
              <p:cNvPr id="156" name="TextBox 155">
                <a:extLst>
                  <a:ext uri="{FF2B5EF4-FFF2-40B4-BE49-F238E27FC236}">
                    <a16:creationId xmlns:a16="http://schemas.microsoft.com/office/drawing/2014/main" id="{3FF2DB6A-C748-3665-5DA8-58D64A3ADAA0}"/>
                  </a:ext>
                </a:extLst>
              </p:cNvPr>
              <p:cNvSpPr txBox="1"/>
              <p:nvPr/>
            </p:nvSpPr>
            <p:spPr>
              <a:xfrm>
                <a:off x="7145766" y="4132443"/>
                <a:ext cx="1077539" cy="230832"/>
              </a:xfrm>
              <a:prstGeom prst="rect">
                <a:avLst/>
              </a:prstGeom>
              <a:noFill/>
            </p:spPr>
            <p:txBody>
              <a:bodyPr wrap="none" rtlCol="0">
                <a:spAutoFit/>
              </a:bodyPr>
              <a:lstStyle/>
              <a:p>
                <a:pPr algn="l"/>
                <a:r>
                  <a:rPr lang="en-IN" sz="900" spc="0" baseline="0" dirty="0">
                    <a:ln/>
                    <a:solidFill>
                      <a:srgbClr val="633806"/>
                    </a:solidFill>
                    <a:latin typeface="Segoe UI"/>
                    <a:cs typeface="Segoe UI"/>
                    <a:sym typeface="Segoe UI"/>
                    <a:rtl val="0"/>
                  </a:rPr>
                  <a:t>Task decomposer</a:t>
                </a:r>
              </a:p>
            </p:txBody>
          </p:sp>
          <p:sp>
            <p:nvSpPr>
              <p:cNvPr id="157" name="TextBox 156">
                <a:extLst>
                  <a:ext uri="{FF2B5EF4-FFF2-40B4-BE49-F238E27FC236}">
                    <a16:creationId xmlns:a16="http://schemas.microsoft.com/office/drawing/2014/main" id="{F810F86E-939A-E68A-6957-30FA487E6CD5}"/>
                  </a:ext>
                </a:extLst>
              </p:cNvPr>
              <p:cNvSpPr txBox="1"/>
              <p:nvPr/>
            </p:nvSpPr>
            <p:spPr>
              <a:xfrm>
                <a:off x="7168551" y="4146412"/>
                <a:ext cx="184731" cy="230832"/>
              </a:xfrm>
              <a:prstGeom prst="rect">
                <a:avLst/>
              </a:prstGeom>
              <a:noFill/>
            </p:spPr>
            <p:txBody>
              <a:bodyPr wrap="none" rtlCol="0">
                <a:spAutoFit/>
              </a:bodyPr>
              <a:lstStyle/>
              <a:p>
                <a:pPr algn="l"/>
                <a:endParaRPr lang="en-IN" sz="900" spc="0" baseline="0" dirty="0">
                  <a:ln/>
                  <a:solidFill>
                    <a:srgbClr val="854F0B"/>
                  </a:solidFill>
                  <a:latin typeface="Segoe UI"/>
                  <a:cs typeface="Segoe UI"/>
                  <a:sym typeface="Segoe UI"/>
                  <a:rtl val="0"/>
                </a:endParaRPr>
              </a:p>
            </p:txBody>
          </p:sp>
          <p:sp>
            <p:nvSpPr>
              <p:cNvPr id="158" name="TextBox 157">
                <a:extLst>
                  <a:ext uri="{FF2B5EF4-FFF2-40B4-BE49-F238E27FC236}">
                    <a16:creationId xmlns:a16="http://schemas.microsoft.com/office/drawing/2014/main" id="{EB6D4B8D-E57D-6AE2-DFA0-65BFEEED8B8A}"/>
                  </a:ext>
                </a:extLst>
              </p:cNvPr>
              <p:cNvSpPr txBox="1"/>
              <p:nvPr/>
            </p:nvSpPr>
            <p:spPr>
              <a:xfrm>
                <a:off x="7251583" y="4258380"/>
                <a:ext cx="184731" cy="230832"/>
              </a:xfrm>
              <a:prstGeom prst="rect">
                <a:avLst/>
              </a:prstGeom>
              <a:noFill/>
            </p:spPr>
            <p:txBody>
              <a:bodyPr wrap="none" rtlCol="0">
                <a:spAutoFit/>
              </a:bodyPr>
              <a:lstStyle/>
              <a:p>
                <a:pPr algn="l"/>
                <a:endParaRPr lang="en-IN" sz="900" spc="0" baseline="0" dirty="0">
                  <a:ln/>
                  <a:solidFill>
                    <a:srgbClr val="854F0B"/>
                  </a:solidFill>
                  <a:latin typeface="Segoe UI"/>
                  <a:cs typeface="Segoe UI"/>
                  <a:sym typeface="Segoe UI"/>
                  <a:rtl val="0"/>
                </a:endParaRPr>
              </a:p>
            </p:txBody>
          </p:sp>
        </p:grpSp>
        <p:sp>
          <p:nvSpPr>
            <p:cNvPr id="159" name="Freeform: Shape 158">
              <a:extLst>
                <a:ext uri="{FF2B5EF4-FFF2-40B4-BE49-F238E27FC236}">
                  <a16:creationId xmlns:a16="http://schemas.microsoft.com/office/drawing/2014/main" id="{FEE9B08F-1F96-A47F-980C-4EC9974330D1}"/>
                </a:ext>
              </a:extLst>
            </p:cNvPr>
            <p:cNvSpPr/>
            <p:nvPr/>
          </p:nvSpPr>
          <p:spPr>
            <a:xfrm>
              <a:off x="3626453" y="1595534"/>
              <a:ext cx="1559811" cy="2447642"/>
            </a:xfrm>
            <a:custGeom>
              <a:avLst/>
              <a:gdLst>
                <a:gd name="csX0" fmla="*/ 622818 w 622818"/>
                <a:gd name="csY0" fmla="*/ 0 h 2414295"/>
                <a:gd name="csX1" fmla="*/ 0 w 622818"/>
                <a:gd name="csY1" fmla="*/ 0 h 2414295"/>
                <a:gd name="csX2" fmla="*/ 0 w 622818"/>
                <a:gd name="csY2" fmla="*/ 2414296 h 2414295"/>
                <a:gd name="csX0" fmla="*/ 1045299 w 1045299"/>
                <a:gd name="csY0" fmla="*/ 0 h 2014246"/>
                <a:gd name="csX1" fmla="*/ 422481 w 1045299"/>
                <a:gd name="csY1" fmla="*/ 0 h 2014246"/>
                <a:gd name="csX2" fmla="*/ 0 w 1045299"/>
                <a:gd name="csY2" fmla="*/ 2014246 h 2014246"/>
                <a:gd name="csX0" fmla="*/ 622818 w 895307"/>
                <a:gd name="csY0" fmla="*/ 0 h 1718971"/>
                <a:gd name="csX1" fmla="*/ 0 w 895307"/>
                <a:gd name="csY1" fmla="*/ 0 h 1718971"/>
                <a:gd name="csX2" fmla="*/ 895307 w 895307"/>
                <a:gd name="csY2" fmla="*/ 1718971 h 1718971"/>
                <a:gd name="csX0" fmla="*/ 1137 w 273626"/>
                <a:gd name="csY0" fmla="*/ 0 h 1718971"/>
                <a:gd name="csX1" fmla="*/ 0 w 273626"/>
                <a:gd name="csY1" fmla="*/ 304800 h 1718971"/>
                <a:gd name="csX2" fmla="*/ 273626 w 273626"/>
                <a:gd name="csY2" fmla="*/ 1718971 h 1718971"/>
                <a:gd name="csX0" fmla="*/ 1137 w 273626"/>
                <a:gd name="csY0" fmla="*/ 0 h 1718971"/>
                <a:gd name="csX1" fmla="*/ 0 w 273626"/>
                <a:gd name="csY1" fmla="*/ 304800 h 1718971"/>
                <a:gd name="csX2" fmla="*/ 273626 w 273626"/>
                <a:gd name="csY2" fmla="*/ 1718971 h 1718971"/>
                <a:gd name="csX0" fmla="*/ 1137 w 188255"/>
                <a:gd name="csY0" fmla="*/ 0 h 1647533"/>
                <a:gd name="csX1" fmla="*/ 0 w 188255"/>
                <a:gd name="csY1" fmla="*/ 304800 h 1647533"/>
                <a:gd name="csX2" fmla="*/ 188254 w 188255"/>
                <a:gd name="csY2" fmla="*/ 1647533 h 1647533"/>
                <a:gd name="csX0" fmla="*/ 710378 w 897495"/>
                <a:gd name="csY0" fmla="*/ 0 h 1647533"/>
                <a:gd name="csX1" fmla="*/ 0 w 897495"/>
                <a:gd name="csY1" fmla="*/ 261938 h 1647533"/>
                <a:gd name="csX2" fmla="*/ 897495 w 897495"/>
                <a:gd name="csY2" fmla="*/ 1647533 h 1647533"/>
                <a:gd name="csX0" fmla="*/ 730081 w 730081"/>
                <a:gd name="csY0" fmla="*/ 0 h 2666708"/>
                <a:gd name="csX1" fmla="*/ 19703 w 730081"/>
                <a:gd name="csY1" fmla="*/ 261938 h 2666708"/>
                <a:gd name="csX2" fmla="*/ 0 w 730081"/>
                <a:gd name="csY2" fmla="*/ 2666708 h 2666708"/>
                <a:gd name="csX0" fmla="*/ 730081 w 730081"/>
                <a:gd name="csY0" fmla="*/ 0 h 2666708"/>
                <a:gd name="csX1" fmla="*/ 13136 w 730081"/>
                <a:gd name="csY1" fmla="*/ 0 h 2666708"/>
                <a:gd name="csX2" fmla="*/ 0 w 730081"/>
                <a:gd name="csY2" fmla="*/ 2666708 h 2666708"/>
                <a:gd name="csX0" fmla="*/ 730081 w 730081"/>
                <a:gd name="csY0" fmla="*/ 0 h 2666708"/>
                <a:gd name="csX1" fmla="*/ 13136 w 730081"/>
                <a:gd name="csY1" fmla="*/ 0 h 2666708"/>
                <a:gd name="csX2" fmla="*/ 0 w 730081"/>
                <a:gd name="csY2" fmla="*/ 2666708 h 2666708"/>
                <a:gd name="csX0" fmla="*/ 730081 w 730081"/>
                <a:gd name="csY0" fmla="*/ 0 h 2661945"/>
                <a:gd name="csX1" fmla="*/ 13136 w 730081"/>
                <a:gd name="csY1" fmla="*/ 0 h 2661945"/>
                <a:gd name="csX2" fmla="*/ 0 w 730081"/>
                <a:gd name="csY2" fmla="*/ 2661945 h 2661945"/>
                <a:gd name="csX0" fmla="*/ 730081 w 730081"/>
                <a:gd name="csY0" fmla="*/ 0 h 2661954"/>
                <a:gd name="csX1" fmla="*/ 13136 w 730081"/>
                <a:gd name="csY1" fmla="*/ 0 h 2661954"/>
                <a:gd name="csX2" fmla="*/ 0 w 730081"/>
                <a:gd name="csY2" fmla="*/ 2661945 h 2661954"/>
                <a:gd name="csX0" fmla="*/ 716945 w 716945"/>
                <a:gd name="csY0" fmla="*/ 0 h 2447642"/>
                <a:gd name="csX1" fmla="*/ 0 w 716945"/>
                <a:gd name="csY1" fmla="*/ 0 h 2447642"/>
                <a:gd name="csX2" fmla="*/ 94126 w 716945"/>
                <a:gd name="csY2" fmla="*/ 2447632 h 2447642"/>
              </a:gdLst>
              <a:ahLst/>
              <a:cxnLst>
                <a:cxn ang="0">
                  <a:pos x="csX0" y="csY0"/>
                </a:cxn>
                <a:cxn ang="0">
                  <a:pos x="csX1" y="csY1"/>
                </a:cxn>
                <a:cxn ang="0">
                  <a:pos x="csX2" y="csY2"/>
                </a:cxn>
              </a:cxnLst>
              <a:rect l="l" t="t" r="r" b="b"/>
              <a:pathLst>
                <a:path w="716945" h="2447642">
                  <a:moveTo>
                    <a:pt x="716945" y="0"/>
                  </a:moveTo>
                  <a:lnTo>
                    <a:pt x="0" y="0"/>
                  </a:lnTo>
                  <a:cubicBezTo>
                    <a:pt x="6567" y="738091"/>
                    <a:pt x="100693" y="2452492"/>
                    <a:pt x="94126" y="2447632"/>
                  </a:cubicBezTo>
                </a:path>
              </a:pathLst>
            </a:custGeom>
            <a:noFill/>
            <a:ln w="6990" cap="flat">
              <a:solidFill>
                <a:srgbClr val="BA7517">
                  <a:alpha val="50000"/>
                </a:srgbClr>
              </a:solidFill>
              <a:prstDash val="solid"/>
              <a:miter/>
            </a:ln>
          </p:spPr>
        </p:sp>
        <p:sp>
          <p:nvSpPr>
            <p:cNvPr id="161" name="Freeform: Shape 160">
              <a:extLst>
                <a:ext uri="{FF2B5EF4-FFF2-40B4-BE49-F238E27FC236}">
                  <a16:creationId xmlns:a16="http://schemas.microsoft.com/office/drawing/2014/main" id="{824C7E52-E256-30DE-3CC0-E58B86C5FA44}"/>
                </a:ext>
              </a:extLst>
            </p:cNvPr>
            <p:cNvSpPr/>
            <p:nvPr/>
          </p:nvSpPr>
          <p:spPr>
            <a:xfrm>
              <a:off x="5298232" y="4275753"/>
              <a:ext cx="1588536" cy="6997"/>
            </a:xfrm>
            <a:custGeom>
              <a:avLst/>
              <a:gdLst>
                <a:gd name="csX0" fmla="*/ 0 w 1588536"/>
                <a:gd name="csY0" fmla="*/ 0 h 6997"/>
                <a:gd name="csX1" fmla="*/ 1588537 w 1588536"/>
                <a:gd name="csY1" fmla="*/ 0 h 6997"/>
              </a:gdLst>
              <a:ahLst/>
              <a:cxnLst>
                <a:cxn ang="0">
                  <a:pos x="csX0" y="csY0"/>
                </a:cxn>
                <a:cxn ang="0">
                  <a:pos x="csX1" y="csY1"/>
                </a:cxn>
              </a:cxnLst>
              <a:rect l="l" t="t" r="r" b="b"/>
              <a:pathLst>
                <a:path w="1588536" h="6997">
                  <a:moveTo>
                    <a:pt x="0" y="0"/>
                  </a:moveTo>
                  <a:lnTo>
                    <a:pt x="1588537" y="0"/>
                  </a:lnTo>
                </a:path>
              </a:pathLst>
            </a:custGeom>
            <a:ln w="6990" cap="flat">
              <a:solidFill>
                <a:srgbClr val="BA7517">
                  <a:alpha val="50000"/>
                </a:srgbClr>
              </a:solidFill>
              <a:prstDash val="solid"/>
              <a:miter/>
            </a:ln>
          </p:spPr>
        </p:sp>
        <p:grpSp>
          <p:nvGrpSpPr>
            <p:cNvPr id="162" name="Graphic 4">
              <a:extLst>
                <a:ext uri="{FF2B5EF4-FFF2-40B4-BE49-F238E27FC236}">
                  <a16:creationId xmlns:a16="http://schemas.microsoft.com/office/drawing/2014/main" id="{1C4D16ED-BF95-9ABA-A9CB-519C1290B50B}"/>
                </a:ext>
              </a:extLst>
            </p:cNvPr>
            <p:cNvGrpSpPr/>
            <p:nvPr/>
          </p:nvGrpSpPr>
          <p:grpSpPr>
            <a:xfrm>
              <a:off x="5256244" y="4996542"/>
              <a:ext cx="1679510" cy="451491"/>
              <a:chOff x="5256244" y="4996542"/>
              <a:chExt cx="1679510" cy="451491"/>
            </a:xfrm>
          </p:grpSpPr>
          <p:sp>
            <p:nvSpPr>
              <p:cNvPr id="163" name="Rectangle: Rounded Corners 162">
                <a:extLst>
                  <a:ext uri="{FF2B5EF4-FFF2-40B4-BE49-F238E27FC236}">
                    <a16:creationId xmlns:a16="http://schemas.microsoft.com/office/drawing/2014/main" id="{2A34B751-D244-FDA8-34DF-938FB4558499}"/>
                  </a:ext>
                </a:extLst>
              </p:cNvPr>
              <p:cNvSpPr/>
              <p:nvPr/>
            </p:nvSpPr>
            <p:spPr>
              <a:xfrm>
                <a:off x="5256244" y="4996542"/>
                <a:ext cx="1679510" cy="433873"/>
              </a:xfrm>
              <a:prstGeom prst="roundRect">
                <a:avLst>
                  <a:gd name="adj" fmla="val 12903"/>
                </a:avLst>
              </a:prstGeom>
              <a:solidFill>
                <a:srgbClr val="EEEDFE"/>
              </a:solidFill>
              <a:ln w="3495" cap="flat">
                <a:solidFill>
                  <a:srgbClr val="534AB7"/>
                </a:solidFill>
                <a:prstDash val="solid"/>
                <a:miter/>
              </a:ln>
            </p:spPr>
          </p:sp>
          <p:sp>
            <p:nvSpPr>
              <p:cNvPr id="164" name="TextBox 163">
                <a:extLst>
                  <a:ext uri="{FF2B5EF4-FFF2-40B4-BE49-F238E27FC236}">
                    <a16:creationId xmlns:a16="http://schemas.microsoft.com/office/drawing/2014/main" id="{17AD84E1-ED38-98AA-1F1B-FCA2D9BC872A}"/>
                  </a:ext>
                </a:extLst>
              </p:cNvPr>
              <p:cNvSpPr txBox="1"/>
              <p:nvPr/>
            </p:nvSpPr>
            <p:spPr>
              <a:xfrm>
                <a:off x="5566149" y="5112109"/>
                <a:ext cx="1066318" cy="230832"/>
              </a:xfrm>
              <a:prstGeom prst="rect">
                <a:avLst/>
              </a:prstGeom>
              <a:noFill/>
            </p:spPr>
            <p:txBody>
              <a:bodyPr wrap="none" rtlCol="0">
                <a:spAutoFit/>
              </a:bodyPr>
              <a:lstStyle/>
              <a:p>
                <a:pPr algn="l"/>
                <a:r>
                  <a:rPr lang="en-IN" sz="900" spc="0" baseline="0" dirty="0">
                    <a:ln/>
                    <a:solidFill>
                      <a:srgbClr val="3C3489"/>
                    </a:solidFill>
                    <a:latin typeface="Segoe UI"/>
                    <a:cs typeface="Segoe UI"/>
                    <a:sym typeface="Segoe UI"/>
                    <a:rtl val="0"/>
                  </a:rPr>
                  <a:t>AI models - LLMs</a:t>
                </a:r>
              </a:p>
            </p:txBody>
          </p:sp>
          <p:sp>
            <p:nvSpPr>
              <p:cNvPr id="165" name="TextBox 164">
                <a:extLst>
                  <a:ext uri="{FF2B5EF4-FFF2-40B4-BE49-F238E27FC236}">
                    <a16:creationId xmlns:a16="http://schemas.microsoft.com/office/drawing/2014/main" id="{3FFD84B0-D6B8-D05D-1C28-D9C586FF353D}"/>
                  </a:ext>
                </a:extLst>
              </p:cNvPr>
              <p:cNvSpPr txBox="1"/>
              <p:nvPr/>
            </p:nvSpPr>
            <p:spPr>
              <a:xfrm>
                <a:off x="5690881" y="5112131"/>
                <a:ext cx="184731" cy="230832"/>
              </a:xfrm>
              <a:prstGeom prst="rect">
                <a:avLst/>
              </a:prstGeom>
              <a:noFill/>
            </p:spPr>
            <p:txBody>
              <a:bodyPr wrap="none" rtlCol="0">
                <a:spAutoFit/>
              </a:bodyPr>
              <a:lstStyle/>
              <a:p>
                <a:pPr algn="l"/>
                <a:endParaRPr lang="en-IN" sz="900" spc="0" baseline="0" dirty="0">
                  <a:ln/>
                  <a:solidFill>
                    <a:srgbClr val="534AB7"/>
                  </a:solidFill>
                  <a:latin typeface="Segoe UI"/>
                  <a:cs typeface="Segoe UI"/>
                  <a:sym typeface="Segoe UI"/>
                  <a:rtl val="0"/>
                </a:endParaRPr>
              </a:p>
            </p:txBody>
          </p:sp>
          <p:sp>
            <p:nvSpPr>
              <p:cNvPr id="166" name="TextBox 165">
                <a:extLst>
                  <a:ext uri="{FF2B5EF4-FFF2-40B4-BE49-F238E27FC236}">
                    <a16:creationId xmlns:a16="http://schemas.microsoft.com/office/drawing/2014/main" id="{78D5EB76-D1E4-2BDF-D2A8-84A85D9531C9}"/>
                  </a:ext>
                </a:extLst>
              </p:cNvPr>
              <p:cNvSpPr txBox="1"/>
              <p:nvPr/>
            </p:nvSpPr>
            <p:spPr>
              <a:xfrm>
                <a:off x="5256244" y="5232589"/>
                <a:ext cx="184731" cy="215444"/>
              </a:xfrm>
              <a:prstGeom prst="rect">
                <a:avLst/>
              </a:prstGeom>
              <a:noFill/>
            </p:spPr>
            <p:txBody>
              <a:bodyPr wrap="none" rtlCol="0">
                <a:spAutoFit/>
              </a:bodyPr>
              <a:lstStyle/>
              <a:p>
                <a:pPr algn="l"/>
                <a:endParaRPr lang="en-IN" sz="800" spc="0" baseline="0" dirty="0">
                  <a:ln/>
                  <a:solidFill>
                    <a:srgbClr val="534AB7"/>
                  </a:solidFill>
                  <a:latin typeface="Segoe UI"/>
                  <a:cs typeface="Segoe UI"/>
                  <a:sym typeface="Segoe UI"/>
                  <a:rtl val="0"/>
                </a:endParaRPr>
              </a:p>
            </p:txBody>
          </p:sp>
        </p:grpSp>
        <p:sp>
          <p:nvSpPr>
            <p:cNvPr id="167" name="Freeform: Shape 166">
              <a:extLst>
                <a:ext uri="{FF2B5EF4-FFF2-40B4-BE49-F238E27FC236}">
                  <a16:creationId xmlns:a16="http://schemas.microsoft.com/office/drawing/2014/main" id="{C6139739-089C-E92D-C7F5-712D8C9A0F59}"/>
                </a:ext>
              </a:extLst>
            </p:cNvPr>
            <p:cNvSpPr/>
            <p:nvPr/>
          </p:nvSpPr>
          <p:spPr>
            <a:xfrm>
              <a:off x="4563447" y="4534677"/>
              <a:ext cx="685799" cy="643812"/>
            </a:xfrm>
            <a:custGeom>
              <a:avLst/>
              <a:gdLst>
                <a:gd name="csX0" fmla="*/ 0 w 685799"/>
                <a:gd name="csY0" fmla="*/ 0 h 643812"/>
                <a:gd name="csX1" fmla="*/ 0 w 685799"/>
                <a:gd name="csY1" fmla="*/ 643812 h 643812"/>
                <a:gd name="csX2" fmla="*/ 685800 w 685799"/>
                <a:gd name="csY2" fmla="*/ 643812 h 643812"/>
              </a:gdLst>
              <a:ahLst/>
              <a:cxnLst>
                <a:cxn ang="0">
                  <a:pos x="csX0" y="csY0"/>
                </a:cxn>
                <a:cxn ang="0">
                  <a:pos x="csX1" y="csY1"/>
                </a:cxn>
                <a:cxn ang="0">
                  <a:pos x="csX2" y="csY2"/>
                </a:cxn>
              </a:cxnLst>
              <a:rect l="l" t="t" r="r" b="b"/>
              <a:pathLst>
                <a:path w="685799" h="643812">
                  <a:moveTo>
                    <a:pt x="0" y="0"/>
                  </a:moveTo>
                  <a:lnTo>
                    <a:pt x="0" y="643812"/>
                  </a:lnTo>
                  <a:lnTo>
                    <a:pt x="685800" y="643812"/>
                  </a:lnTo>
                </a:path>
              </a:pathLst>
            </a:custGeom>
            <a:noFill/>
            <a:ln w="6990" cap="flat">
              <a:solidFill>
                <a:srgbClr val="7F77DD">
                  <a:alpha val="50000"/>
                </a:srgbClr>
              </a:solidFill>
              <a:prstDash val="solid"/>
              <a:miter/>
            </a:ln>
          </p:spPr>
        </p:sp>
        <p:sp>
          <p:nvSpPr>
            <p:cNvPr id="168" name="Freeform: Shape 167">
              <a:extLst>
                <a:ext uri="{FF2B5EF4-FFF2-40B4-BE49-F238E27FC236}">
                  <a16:creationId xmlns:a16="http://schemas.microsoft.com/office/drawing/2014/main" id="{9EE3E455-E557-53B4-4ADF-45D81167E6E1}"/>
                </a:ext>
              </a:extLst>
            </p:cNvPr>
            <p:cNvSpPr/>
            <p:nvPr/>
          </p:nvSpPr>
          <p:spPr>
            <a:xfrm>
              <a:off x="6942753" y="4534677"/>
              <a:ext cx="685799" cy="643812"/>
            </a:xfrm>
            <a:custGeom>
              <a:avLst/>
              <a:gdLst>
                <a:gd name="csX0" fmla="*/ 685800 w 685799"/>
                <a:gd name="csY0" fmla="*/ 0 h 643812"/>
                <a:gd name="csX1" fmla="*/ 685800 w 685799"/>
                <a:gd name="csY1" fmla="*/ 643812 h 643812"/>
                <a:gd name="csX2" fmla="*/ 0 w 685799"/>
                <a:gd name="csY2" fmla="*/ 643812 h 643812"/>
              </a:gdLst>
              <a:ahLst/>
              <a:cxnLst>
                <a:cxn ang="0">
                  <a:pos x="csX0" y="csY0"/>
                </a:cxn>
                <a:cxn ang="0">
                  <a:pos x="csX1" y="csY1"/>
                </a:cxn>
                <a:cxn ang="0">
                  <a:pos x="csX2" y="csY2"/>
                </a:cxn>
              </a:cxnLst>
              <a:rect l="l" t="t" r="r" b="b"/>
              <a:pathLst>
                <a:path w="685799" h="643812">
                  <a:moveTo>
                    <a:pt x="685800" y="0"/>
                  </a:moveTo>
                  <a:lnTo>
                    <a:pt x="685800" y="643812"/>
                  </a:lnTo>
                  <a:lnTo>
                    <a:pt x="0" y="643812"/>
                  </a:lnTo>
                </a:path>
              </a:pathLst>
            </a:custGeom>
            <a:noFill/>
            <a:ln w="6990" cap="flat">
              <a:solidFill>
                <a:srgbClr val="7F77DD">
                  <a:alpha val="50000"/>
                </a:srgbClr>
              </a:solidFill>
              <a:prstDash val="solid"/>
              <a:miter/>
            </a:ln>
          </p:spPr>
        </p:sp>
        <p:sp>
          <p:nvSpPr>
            <p:cNvPr id="169" name="Freeform: Shape 168">
              <a:extLst>
                <a:ext uri="{FF2B5EF4-FFF2-40B4-BE49-F238E27FC236}">
                  <a16:creationId xmlns:a16="http://schemas.microsoft.com/office/drawing/2014/main" id="{0A2CE9D1-9B6F-94A6-21A1-E13A840AA711}"/>
                </a:ext>
              </a:extLst>
            </p:cNvPr>
            <p:cNvSpPr/>
            <p:nvPr/>
          </p:nvSpPr>
          <p:spPr>
            <a:xfrm>
              <a:off x="6096000" y="1707502"/>
              <a:ext cx="6997" cy="3282042"/>
            </a:xfrm>
            <a:custGeom>
              <a:avLst/>
              <a:gdLst>
                <a:gd name="csX0" fmla="*/ 0 w 6997"/>
                <a:gd name="csY0" fmla="*/ 0 h 3282042"/>
                <a:gd name="csX1" fmla="*/ 0 w 6997"/>
                <a:gd name="csY1" fmla="*/ 3282043 h 3282042"/>
              </a:gdLst>
              <a:ahLst/>
              <a:cxnLst>
                <a:cxn ang="0">
                  <a:pos x="csX0" y="csY0"/>
                </a:cxn>
                <a:cxn ang="0">
                  <a:pos x="csX1" y="csY1"/>
                </a:cxn>
              </a:cxnLst>
              <a:rect l="l" t="t" r="r" b="b"/>
              <a:pathLst>
                <a:path w="6997" h="3282042">
                  <a:moveTo>
                    <a:pt x="0" y="0"/>
                  </a:moveTo>
                  <a:lnTo>
                    <a:pt x="0" y="3282043"/>
                  </a:lnTo>
                </a:path>
              </a:pathLst>
            </a:custGeom>
            <a:noFill/>
            <a:ln w="6990" cap="flat">
              <a:solidFill>
                <a:srgbClr val="7F77DD">
                  <a:alpha val="35000"/>
                </a:srgbClr>
              </a:solidFill>
              <a:custDash>
                <a:ds d="375000" sp="225000"/>
              </a:custDash>
              <a:miter/>
            </a:ln>
          </p:spPr>
        </p:sp>
        <p:grpSp>
          <p:nvGrpSpPr>
            <p:cNvPr id="170" name="Graphic 4">
              <a:extLst>
                <a:ext uri="{FF2B5EF4-FFF2-40B4-BE49-F238E27FC236}">
                  <a16:creationId xmlns:a16="http://schemas.microsoft.com/office/drawing/2014/main" id="{A09DC79F-668F-7A44-F121-C2F228871E0F}"/>
                </a:ext>
              </a:extLst>
            </p:cNvPr>
            <p:cNvGrpSpPr/>
            <p:nvPr/>
          </p:nvGrpSpPr>
          <p:grpSpPr>
            <a:xfrm>
              <a:off x="6893767" y="5878285"/>
              <a:ext cx="1469571" cy="433873"/>
              <a:chOff x="6893767" y="5878285"/>
              <a:chExt cx="1469571" cy="433873"/>
            </a:xfrm>
          </p:grpSpPr>
          <p:sp>
            <p:nvSpPr>
              <p:cNvPr id="171" name="Rectangle: Rounded Corners 170">
                <a:extLst>
                  <a:ext uri="{FF2B5EF4-FFF2-40B4-BE49-F238E27FC236}">
                    <a16:creationId xmlns:a16="http://schemas.microsoft.com/office/drawing/2014/main" id="{CF793593-1E5C-B71B-2531-E2C542505C7A}"/>
                  </a:ext>
                </a:extLst>
              </p:cNvPr>
              <p:cNvSpPr/>
              <p:nvPr/>
            </p:nvSpPr>
            <p:spPr>
              <a:xfrm>
                <a:off x="6893767" y="5878285"/>
                <a:ext cx="1469571" cy="433873"/>
              </a:xfrm>
              <a:prstGeom prst="roundRect">
                <a:avLst>
                  <a:gd name="adj" fmla="val 12903"/>
                </a:avLst>
              </a:prstGeom>
              <a:solidFill>
                <a:srgbClr val="E1F5EE"/>
              </a:solidFill>
              <a:ln w="3495" cap="flat">
                <a:solidFill>
                  <a:srgbClr val="0F6E56"/>
                </a:solidFill>
                <a:prstDash val="solid"/>
                <a:miter/>
              </a:ln>
            </p:spPr>
          </p:sp>
          <p:sp>
            <p:nvSpPr>
              <p:cNvPr id="172" name="TextBox 171">
                <a:extLst>
                  <a:ext uri="{FF2B5EF4-FFF2-40B4-BE49-F238E27FC236}">
                    <a16:creationId xmlns:a16="http://schemas.microsoft.com/office/drawing/2014/main" id="{45E161EF-4607-7D59-EC33-AECC6DE5FA78}"/>
                  </a:ext>
                </a:extLst>
              </p:cNvPr>
              <p:cNvSpPr txBox="1"/>
              <p:nvPr/>
            </p:nvSpPr>
            <p:spPr>
              <a:xfrm>
                <a:off x="7045718" y="5919299"/>
                <a:ext cx="1172116" cy="230832"/>
              </a:xfrm>
              <a:prstGeom prst="rect">
                <a:avLst/>
              </a:prstGeom>
              <a:noFill/>
            </p:spPr>
            <p:txBody>
              <a:bodyPr wrap="none" rtlCol="0">
                <a:spAutoFit/>
              </a:bodyPr>
              <a:lstStyle/>
              <a:p>
                <a:pPr algn="l"/>
                <a:r>
                  <a:rPr lang="en-IN" sz="900" spc="0" baseline="0" dirty="0">
                    <a:ln/>
                    <a:solidFill>
                      <a:srgbClr val="085041"/>
                    </a:solidFill>
                    <a:latin typeface="Segoe UI"/>
                    <a:cs typeface="Segoe UI"/>
                    <a:sym typeface="Segoe UI"/>
                    <a:rtl val="0"/>
                  </a:rPr>
                  <a:t>Customer database</a:t>
                </a:r>
              </a:p>
            </p:txBody>
          </p:sp>
          <p:sp>
            <p:nvSpPr>
              <p:cNvPr id="173" name="TextBox 172">
                <a:extLst>
                  <a:ext uri="{FF2B5EF4-FFF2-40B4-BE49-F238E27FC236}">
                    <a16:creationId xmlns:a16="http://schemas.microsoft.com/office/drawing/2014/main" id="{98052193-B2C1-D407-4723-F500D01DDF2A}"/>
                  </a:ext>
                </a:extLst>
              </p:cNvPr>
              <p:cNvSpPr txBox="1"/>
              <p:nvPr/>
            </p:nvSpPr>
            <p:spPr>
              <a:xfrm>
                <a:off x="6928979" y="6012912"/>
                <a:ext cx="184731" cy="230832"/>
              </a:xfrm>
              <a:prstGeom prst="rect">
                <a:avLst/>
              </a:prstGeom>
              <a:noFill/>
            </p:spPr>
            <p:txBody>
              <a:bodyPr wrap="none" rtlCol="0">
                <a:spAutoFit/>
              </a:bodyPr>
              <a:lstStyle/>
              <a:p>
                <a:pPr algn="l"/>
                <a:endParaRPr lang="en-IN" sz="900" spc="0" baseline="0" dirty="0">
                  <a:ln/>
                  <a:solidFill>
                    <a:srgbClr val="0F6E56"/>
                  </a:solidFill>
                  <a:latin typeface="Segoe UI"/>
                  <a:cs typeface="Segoe UI"/>
                  <a:sym typeface="Segoe UI"/>
                  <a:rtl val="0"/>
                </a:endParaRPr>
              </a:p>
            </p:txBody>
          </p:sp>
          <p:sp>
            <p:nvSpPr>
              <p:cNvPr id="174" name="TextBox 173">
                <a:extLst>
                  <a:ext uri="{FF2B5EF4-FFF2-40B4-BE49-F238E27FC236}">
                    <a16:creationId xmlns:a16="http://schemas.microsoft.com/office/drawing/2014/main" id="{1306C8FC-87F2-77E4-F945-43A1ACB09E38}"/>
                  </a:ext>
                </a:extLst>
              </p:cNvPr>
              <p:cNvSpPr txBox="1"/>
              <p:nvPr/>
            </p:nvSpPr>
            <p:spPr>
              <a:xfrm>
                <a:off x="7153214" y="6060332"/>
                <a:ext cx="1059906" cy="230832"/>
              </a:xfrm>
              <a:prstGeom prst="rect">
                <a:avLst/>
              </a:prstGeom>
              <a:noFill/>
            </p:spPr>
            <p:txBody>
              <a:bodyPr wrap="none" rtlCol="0">
                <a:spAutoFit/>
              </a:bodyPr>
              <a:lstStyle/>
              <a:p>
                <a:pPr algn="l"/>
                <a:r>
                  <a:rPr lang="en-IN" sz="900" spc="0" baseline="0" dirty="0">
                    <a:ln/>
                    <a:solidFill>
                      <a:srgbClr val="0F6E56"/>
                    </a:solidFill>
                    <a:latin typeface="Segoe UI"/>
                    <a:cs typeface="Segoe UI"/>
                    <a:sym typeface="Segoe UI"/>
                    <a:rtl val="0"/>
                  </a:rPr>
                  <a:t>Profiles &amp; history</a:t>
                </a:r>
              </a:p>
            </p:txBody>
          </p:sp>
        </p:grpSp>
        <p:sp>
          <p:nvSpPr>
            <p:cNvPr id="175" name="Freeform: Shape 174">
              <a:extLst>
                <a:ext uri="{FF2B5EF4-FFF2-40B4-BE49-F238E27FC236}">
                  <a16:creationId xmlns:a16="http://schemas.microsoft.com/office/drawing/2014/main" id="{3DF8B0FD-A283-7D5F-BBD5-A8F205F8B947}"/>
                </a:ext>
              </a:extLst>
            </p:cNvPr>
            <p:cNvSpPr/>
            <p:nvPr/>
          </p:nvSpPr>
          <p:spPr>
            <a:xfrm>
              <a:off x="6942753" y="5262465"/>
              <a:ext cx="685799" cy="615820"/>
            </a:xfrm>
            <a:custGeom>
              <a:avLst/>
              <a:gdLst>
                <a:gd name="csX0" fmla="*/ 685800 w 685799"/>
                <a:gd name="csY0" fmla="*/ 615820 h 615820"/>
                <a:gd name="csX1" fmla="*/ 685800 w 685799"/>
                <a:gd name="csY1" fmla="*/ 41988 h 615820"/>
                <a:gd name="csX2" fmla="*/ 0 w 685799"/>
                <a:gd name="csY2" fmla="*/ 0 h 615820"/>
              </a:gdLst>
              <a:ahLst/>
              <a:cxnLst>
                <a:cxn ang="0">
                  <a:pos x="csX0" y="csY0"/>
                </a:cxn>
                <a:cxn ang="0">
                  <a:pos x="csX1" y="csY1"/>
                </a:cxn>
                <a:cxn ang="0">
                  <a:pos x="csX2" y="csY2"/>
                </a:cxn>
              </a:cxnLst>
              <a:rect l="l" t="t" r="r" b="b"/>
              <a:pathLst>
                <a:path w="685799" h="615820">
                  <a:moveTo>
                    <a:pt x="685800" y="615820"/>
                  </a:moveTo>
                  <a:lnTo>
                    <a:pt x="685800" y="41988"/>
                  </a:lnTo>
                  <a:lnTo>
                    <a:pt x="0" y="0"/>
                  </a:lnTo>
                </a:path>
              </a:pathLst>
            </a:custGeom>
            <a:noFill/>
            <a:ln w="6990" cap="flat">
              <a:solidFill>
                <a:srgbClr val="1D9E75">
                  <a:alpha val="50000"/>
                </a:srgbClr>
              </a:solidFill>
              <a:prstDash val="solid"/>
              <a:miter/>
            </a:ln>
          </p:spPr>
        </p:sp>
        <p:sp>
          <p:nvSpPr>
            <p:cNvPr id="176" name="TextBox 175">
              <a:extLst>
                <a:ext uri="{FF2B5EF4-FFF2-40B4-BE49-F238E27FC236}">
                  <a16:creationId xmlns:a16="http://schemas.microsoft.com/office/drawing/2014/main" id="{7B65D63D-AC2F-1549-F6DE-79F8E801BEF9}"/>
                </a:ext>
              </a:extLst>
            </p:cNvPr>
            <p:cNvSpPr txBox="1"/>
            <p:nvPr/>
          </p:nvSpPr>
          <p:spPr>
            <a:xfrm>
              <a:off x="7294603" y="5448033"/>
              <a:ext cx="352982" cy="230832"/>
            </a:xfrm>
            <a:prstGeom prst="rect">
              <a:avLst/>
            </a:prstGeom>
            <a:noFill/>
          </p:spPr>
          <p:txBody>
            <a:bodyPr wrap="none" rtlCol="0">
              <a:spAutoFit/>
            </a:bodyPr>
            <a:lstStyle/>
            <a:p>
              <a:pPr algn="l"/>
              <a:r>
                <a:rPr lang="en-IN" sz="900" spc="0" baseline="0">
                  <a:ln/>
                  <a:solidFill>
                    <a:srgbClr val="3D3D3A"/>
                  </a:solidFill>
                  <a:latin typeface="Segoe UI"/>
                  <a:cs typeface="Segoe UI"/>
                  <a:sym typeface="Segoe UI"/>
                  <a:rtl val="0"/>
                </a:rPr>
                <a:t>API</a:t>
              </a:r>
            </a:p>
          </p:txBody>
        </p:sp>
        <p:sp>
          <p:nvSpPr>
            <p:cNvPr id="177" name="Freeform: Shape 176">
              <a:extLst>
                <a:ext uri="{FF2B5EF4-FFF2-40B4-BE49-F238E27FC236}">
                  <a16:creationId xmlns:a16="http://schemas.microsoft.com/office/drawing/2014/main" id="{D3834833-8EF7-7BE8-AD02-41D8137A3812}"/>
                </a:ext>
              </a:extLst>
            </p:cNvPr>
            <p:cNvSpPr/>
            <p:nvPr/>
          </p:nvSpPr>
          <p:spPr>
            <a:xfrm>
              <a:off x="7628552" y="4541675"/>
              <a:ext cx="6997" cy="1336610"/>
            </a:xfrm>
            <a:custGeom>
              <a:avLst/>
              <a:gdLst>
                <a:gd name="csX0" fmla="*/ 0 w 6997"/>
                <a:gd name="csY0" fmla="*/ 1336610 h 1336610"/>
                <a:gd name="csX1" fmla="*/ 0 w 6997"/>
                <a:gd name="csY1" fmla="*/ 0 h 1336610"/>
              </a:gdLst>
              <a:ahLst/>
              <a:cxnLst>
                <a:cxn ang="0">
                  <a:pos x="csX0" y="csY0"/>
                </a:cxn>
                <a:cxn ang="0">
                  <a:pos x="csX1" y="csY1"/>
                </a:cxn>
              </a:cxnLst>
              <a:rect l="l" t="t" r="r" b="b"/>
              <a:pathLst>
                <a:path w="6997" h="1336610">
                  <a:moveTo>
                    <a:pt x="0" y="1336610"/>
                  </a:moveTo>
                  <a:lnTo>
                    <a:pt x="0" y="0"/>
                  </a:lnTo>
                </a:path>
              </a:pathLst>
            </a:custGeom>
            <a:ln w="5592" cap="flat">
              <a:solidFill>
                <a:srgbClr val="1D9E75">
                  <a:alpha val="35000"/>
                </a:srgbClr>
              </a:solidFill>
              <a:custDash>
                <a:ds d="300000" sp="225000"/>
              </a:custDash>
              <a:miter/>
            </a:ln>
          </p:spPr>
        </p:sp>
        <p:sp>
          <p:nvSpPr>
            <p:cNvPr id="188" name="Freeform: Shape 187">
              <a:extLst>
                <a:ext uri="{FF2B5EF4-FFF2-40B4-BE49-F238E27FC236}">
                  <a16:creationId xmlns:a16="http://schemas.microsoft.com/office/drawing/2014/main" id="{FFBC7545-511C-CFE4-24B4-11B42674B309}"/>
                </a:ext>
              </a:extLst>
            </p:cNvPr>
            <p:cNvSpPr/>
            <p:nvPr/>
          </p:nvSpPr>
          <p:spPr>
            <a:xfrm>
              <a:off x="7020868" y="1373746"/>
              <a:ext cx="1660055" cy="2658218"/>
            </a:xfrm>
            <a:custGeom>
              <a:avLst/>
              <a:gdLst>
                <a:gd name="csX0" fmla="*/ 622818 w 622818"/>
                <a:gd name="csY0" fmla="*/ 0 h 2414295"/>
                <a:gd name="csX1" fmla="*/ 0 w 622818"/>
                <a:gd name="csY1" fmla="*/ 0 h 2414295"/>
                <a:gd name="csX2" fmla="*/ 0 w 622818"/>
                <a:gd name="csY2" fmla="*/ 2414296 h 2414295"/>
                <a:gd name="csX0" fmla="*/ 1045299 w 1045299"/>
                <a:gd name="csY0" fmla="*/ 0 h 2014246"/>
                <a:gd name="csX1" fmla="*/ 422481 w 1045299"/>
                <a:gd name="csY1" fmla="*/ 0 h 2014246"/>
                <a:gd name="csX2" fmla="*/ 0 w 1045299"/>
                <a:gd name="csY2" fmla="*/ 2014246 h 2014246"/>
                <a:gd name="csX0" fmla="*/ 622818 w 895307"/>
                <a:gd name="csY0" fmla="*/ 0 h 1718971"/>
                <a:gd name="csX1" fmla="*/ 0 w 895307"/>
                <a:gd name="csY1" fmla="*/ 0 h 1718971"/>
                <a:gd name="csX2" fmla="*/ 895307 w 895307"/>
                <a:gd name="csY2" fmla="*/ 1718971 h 1718971"/>
                <a:gd name="csX0" fmla="*/ 1137 w 273626"/>
                <a:gd name="csY0" fmla="*/ 0 h 1718971"/>
                <a:gd name="csX1" fmla="*/ 0 w 273626"/>
                <a:gd name="csY1" fmla="*/ 304800 h 1718971"/>
                <a:gd name="csX2" fmla="*/ 273626 w 273626"/>
                <a:gd name="csY2" fmla="*/ 1718971 h 1718971"/>
                <a:gd name="csX0" fmla="*/ 1137 w 273626"/>
                <a:gd name="csY0" fmla="*/ 0 h 1718971"/>
                <a:gd name="csX1" fmla="*/ 0 w 273626"/>
                <a:gd name="csY1" fmla="*/ 304800 h 1718971"/>
                <a:gd name="csX2" fmla="*/ 273626 w 273626"/>
                <a:gd name="csY2" fmla="*/ 1718971 h 1718971"/>
                <a:gd name="csX0" fmla="*/ 1137 w 188255"/>
                <a:gd name="csY0" fmla="*/ 0 h 1647533"/>
                <a:gd name="csX1" fmla="*/ 0 w 188255"/>
                <a:gd name="csY1" fmla="*/ 304800 h 1647533"/>
                <a:gd name="csX2" fmla="*/ 188254 w 188255"/>
                <a:gd name="csY2" fmla="*/ 1647533 h 1647533"/>
                <a:gd name="csX0" fmla="*/ 710378 w 897495"/>
                <a:gd name="csY0" fmla="*/ 0 h 1647533"/>
                <a:gd name="csX1" fmla="*/ 0 w 897495"/>
                <a:gd name="csY1" fmla="*/ 261938 h 1647533"/>
                <a:gd name="csX2" fmla="*/ 897495 w 897495"/>
                <a:gd name="csY2" fmla="*/ 1647533 h 1647533"/>
                <a:gd name="csX0" fmla="*/ 730081 w 730081"/>
                <a:gd name="csY0" fmla="*/ 0 h 2666708"/>
                <a:gd name="csX1" fmla="*/ 19703 w 730081"/>
                <a:gd name="csY1" fmla="*/ 261938 h 2666708"/>
                <a:gd name="csX2" fmla="*/ 0 w 730081"/>
                <a:gd name="csY2" fmla="*/ 2666708 h 2666708"/>
                <a:gd name="csX0" fmla="*/ 730081 w 730081"/>
                <a:gd name="csY0" fmla="*/ 0 h 2666708"/>
                <a:gd name="csX1" fmla="*/ 13136 w 730081"/>
                <a:gd name="csY1" fmla="*/ 0 h 2666708"/>
                <a:gd name="csX2" fmla="*/ 0 w 730081"/>
                <a:gd name="csY2" fmla="*/ 2666708 h 2666708"/>
                <a:gd name="csX0" fmla="*/ 730081 w 730081"/>
                <a:gd name="csY0" fmla="*/ 0 h 2666708"/>
                <a:gd name="csX1" fmla="*/ 13136 w 730081"/>
                <a:gd name="csY1" fmla="*/ 0 h 2666708"/>
                <a:gd name="csX2" fmla="*/ 0 w 730081"/>
                <a:gd name="csY2" fmla="*/ 2666708 h 2666708"/>
                <a:gd name="csX0" fmla="*/ 730081 w 730081"/>
                <a:gd name="csY0" fmla="*/ 0 h 2661945"/>
                <a:gd name="csX1" fmla="*/ 13136 w 730081"/>
                <a:gd name="csY1" fmla="*/ 0 h 2661945"/>
                <a:gd name="csX2" fmla="*/ 0 w 730081"/>
                <a:gd name="csY2" fmla="*/ 2661945 h 2661945"/>
                <a:gd name="csX0" fmla="*/ 730081 w 730081"/>
                <a:gd name="csY0" fmla="*/ 0 h 2661954"/>
                <a:gd name="csX1" fmla="*/ 13136 w 730081"/>
                <a:gd name="csY1" fmla="*/ 0 h 2661954"/>
                <a:gd name="csX2" fmla="*/ 0 w 730081"/>
                <a:gd name="csY2" fmla="*/ 2661945 h 2661954"/>
                <a:gd name="csX0" fmla="*/ 716945 w 716945"/>
                <a:gd name="csY0" fmla="*/ 0 h 2447642"/>
                <a:gd name="csX1" fmla="*/ 0 w 716945"/>
                <a:gd name="csY1" fmla="*/ 0 h 2447642"/>
                <a:gd name="csX2" fmla="*/ 94126 w 716945"/>
                <a:gd name="csY2" fmla="*/ 2447632 h 2447642"/>
                <a:gd name="csX0" fmla="*/ 0 w 794938"/>
                <a:gd name="csY0" fmla="*/ 4924 h 2447642"/>
                <a:gd name="csX1" fmla="*/ 700484 w 794938"/>
                <a:gd name="csY1" fmla="*/ 0 h 2447642"/>
                <a:gd name="csX2" fmla="*/ 794610 w 794938"/>
                <a:gd name="csY2" fmla="*/ 2447632 h 2447642"/>
                <a:gd name="csX0" fmla="*/ 0 w 997027"/>
                <a:gd name="csY0" fmla="*/ 19693 h 2447642"/>
                <a:gd name="csX1" fmla="*/ 902573 w 997027"/>
                <a:gd name="csY1" fmla="*/ 0 h 2447642"/>
                <a:gd name="csX2" fmla="*/ 996699 w 997027"/>
                <a:gd name="csY2" fmla="*/ 2447632 h 2447642"/>
                <a:gd name="csX0" fmla="*/ 0 w 1032502"/>
                <a:gd name="csY0" fmla="*/ 4923 h 2432872"/>
                <a:gd name="csX1" fmla="*/ 1031686 w 1032502"/>
                <a:gd name="csY1" fmla="*/ 0 h 2432872"/>
                <a:gd name="csX2" fmla="*/ 996699 w 1032502"/>
                <a:gd name="csY2" fmla="*/ 2432862 h 2432872"/>
                <a:gd name="csX0" fmla="*/ 0 w 1031812"/>
                <a:gd name="csY0" fmla="*/ 4923 h 2752882"/>
                <a:gd name="csX1" fmla="*/ 1031686 w 1031812"/>
                <a:gd name="csY1" fmla="*/ 0 h 2752882"/>
                <a:gd name="csX2" fmla="*/ 780576 w 1031812"/>
                <a:gd name="csY2" fmla="*/ 2752874 h 2752882"/>
                <a:gd name="csX0" fmla="*/ 0 w 978516"/>
                <a:gd name="csY0" fmla="*/ 0 h 2747959"/>
                <a:gd name="csX1" fmla="*/ 978357 w 978516"/>
                <a:gd name="csY1" fmla="*/ 0 h 2747959"/>
                <a:gd name="csX2" fmla="*/ 780576 w 978516"/>
                <a:gd name="csY2" fmla="*/ 2747951 h 2747959"/>
                <a:gd name="csX0" fmla="*/ 0 w 978357"/>
                <a:gd name="csY0" fmla="*/ 0 h 2747959"/>
                <a:gd name="csX1" fmla="*/ 978357 w 978357"/>
                <a:gd name="csY1" fmla="*/ 0 h 2747959"/>
                <a:gd name="csX2" fmla="*/ 780576 w 978357"/>
                <a:gd name="csY2" fmla="*/ 2747951 h 2747959"/>
              </a:gdLst>
              <a:ahLst/>
              <a:cxnLst>
                <a:cxn ang="0">
                  <a:pos x="csX0" y="csY0"/>
                </a:cxn>
                <a:cxn ang="0">
                  <a:pos x="csX1" y="csY1"/>
                </a:cxn>
                <a:cxn ang="0">
                  <a:pos x="csX2" y="csY2"/>
                </a:cxn>
              </a:cxnLst>
              <a:rect l="l" t="t" r="r" b="b"/>
              <a:pathLst>
                <a:path w="978357" h="2747959">
                  <a:moveTo>
                    <a:pt x="0" y="0"/>
                  </a:moveTo>
                  <a:lnTo>
                    <a:pt x="978357" y="0"/>
                  </a:lnTo>
                  <a:cubicBezTo>
                    <a:pt x="928788" y="723322"/>
                    <a:pt x="787143" y="2752811"/>
                    <a:pt x="780576" y="2747951"/>
                  </a:cubicBezTo>
                </a:path>
              </a:pathLst>
            </a:custGeom>
            <a:noFill/>
            <a:ln w="6990" cap="flat">
              <a:solidFill>
                <a:srgbClr val="BA7517">
                  <a:alpha val="50000"/>
                </a:srgbClr>
              </a:solidFill>
              <a:prstDash val="solid"/>
              <a:miter/>
            </a:ln>
          </p:spPr>
        </p:sp>
      </p:grpSp>
    </p:spTree>
    <p:extLst>
      <p:ext uri="{BB962C8B-B14F-4D97-AF65-F5344CB8AC3E}">
        <p14:creationId xmlns:p14="http://schemas.microsoft.com/office/powerpoint/2010/main" val="2669427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DB752-A19B-4DD2-98A4-90034CA9B2D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B692B1C-A3A1-13B0-AE76-21B37052E309}"/>
              </a:ext>
            </a:extLst>
          </p:cNvPr>
          <p:cNvGrpSpPr/>
          <p:nvPr/>
        </p:nvGrpSpPr>
        <p:grpSpPr>
          <a:xfrm>
            <a:off x="3626453" y="29398"/>
            <a:ext cx="5054470" cy="6326313"/>
            <a:chOff x="3626453" y="29398"/>
            <a:chExt cx="5054470" cy="6326313"/>
          </a:xfrm>
        </p:grpSpPr>
        <p:sp>
          <p:nvSpPr>
            <p:cNvPr id="98" name="TextBox 97">
              <a:extLst>
                <a:ext uri="{FF2B5EF4-FFF2-40B4-BE49-F238E27FC236}">
                  <a16:creationId xmlns:a16="http://schemas.microsoft.com/office/drawing/2014/main" id="{7BD239AA-F82C-2F66-573A-DFAA1778866E}"/>
                </a:ext>
              </a:extLst>
            </p:cNvPr>
            <p:cNvSpPr txBox="1"/>
            <p:nvPr/>
          </p:nvSpPr>
          <p:spPr>
            <a:xfrm>
              <a:off x="4966347" y="29398"/>
              <a:ext cx="2700163" cy="276999"/>
            </a:xfrm>
            <a:prstGeom prst="rect">
              <a:avLst/>
            </a:prstGeom>
            <a:noFill/>
          </p:spPr>
          <p:txBody>
            <a:bodyPr wrap="none" rtlCol="0">
              <a:spAutoFit/>
            </a:bodyPr>
            <a:lstStyle/>
            <a:p>
              <a:pPr algn="l"/>
              <a:r>
                <a:rPr lang="en-IN" sz="1200" spc="0" baseline="0" dirty="0">
                  <a:ln/>
                  <a:solidFill>
                    <a:srgbClr val="141413"/>
                  </a:solidFill>
                  <a:latin typeface="Segoe UI"/>
                  <a:cs typeface="Segoe UI"/>
                  <a:sym typeface="Segoe UI"/>
                  <a:rtl val="0"/>
                </a:rPr>
                <a:t>Proposed - Agentic banking platform</a:t>
              </a:r>
            </a:p>
          </p:txBody>
        </p:sp>
        <p:grpSp>
          <p:nvGrpSpPr>
            <p:cNvPr id="99" name="Graphic 4">
              <a:extLst>
                <a:ext uri="{FF2B5EF4-FFF2-40B4-BE49-F238E27FC236}">
                  <a16:creationId xmlns:a16="http://schemas.microsoft.com/office/drawing/2014/main" id="{2ABD8F8C-71CF-B58D-C4DA-CAA56C2AD843}"/>
                </a:ext>
              </a:extLst>
            </p:cNvPr>
            <p:cNvGrpSpPr/>
            <p:nvPr/>
          </p:nvGrpSpPr>
          <p:grpSpPr>
            <a:xfrm>
              <a:off x="5046306" y="338416"/>
              <a:ext cx="1347877" cy="476645"/>
              <a:chOff x="5046306" y="338416"/>
              <a:chExt cx="1347877" cy="476645"/>
            </a:xfrm>
          </p:grpSpPr>
          <p:sp>
            <p:nvSpPr>
              <p:cNvPr id="100" name="Rectangle: Rounded Corners 99">
                <a:extLst>
                  <a:ext uri="{FF2B5EF4-FFF2-40B4-BE49-F238E27FC236}">
                    <a16:creationId xmlns:a16="http://schemas.microsoft.com/office/drawing/2014/main" id="{7AF1A9B4-BE02-F43D-90F5-4BBD2F8A1326}"/>
                  </a:ext>
                </a:extLst>
              </p:cNvPr>
              <p:cNvSpPr/>
              <p:nvPr/>
            </p:nvSpPr>
            <p:spPr>
              <a:xfrm>
                <a:off x="5046306" y="363893"/>
                <a:ext cx="1329612" cy="433873"/>
              </a:xfrm>
              <a:prstGeom prst="roundRect">
                <a:avLst>
                  <a:gd name="adj" fmla="val 12903"/>
                </a:avLst>
              </a:prstGeom>
              <a:solidFill>
                <a:srgbClr val="E6F1FB"/>
              </a:solidFill>
              <a:ln w="3495" cap="flat">
                <a:solidFill>
                  <a:srgbClr val="185FA5"/>
                </a:solidFill>
                <a:prstDash val="solid"/>
                <a:miter/>
              </a:ln>
            </p:spPr>
          </p:sp>
          <p:sp>
            <p:nvSpPr>
              <p:cNvPr id="101" name="TextBox 100">
                <a:extLst>
                  <a:ext uri="{FF2B5EF4-FFF2-40B4-BE49-F238E27FC236}">
                    <a16:creationId xmlns:a16="http://schemas.microsoft.com/office/drawing/2014/main" id="{634405E0-2E6C-30D6-087F-DEE81354B5AD}"/>
                  </a:ext>
                </a:extLst>
              </p:cNvPr>
              <p:cNvSpPr txBox="1"/>
              <p:nvPr/>
            </p:nvSpPr>
            <p:spPr>
              <a:xfrm>
                <a:off x="5354173" y="338416"/>
                <a:ext cx="809837" cy="230832"/>
              </a:xfrm>
              <a:prstGeom prst="rect">
                <a:avLst/>
              </a:prstGeom>
              <a:noFill/>
            </p:spPr>
            <p:txBody>
              <a:bodyPr wrap="none" rtlCol="0">
                <a:spAutoFit/>
              </a:bodyPr>
              <a:lstStyle/>
              <a:p>
                <a:pPr algn="l"/>
                <a:r>
                  <a:rPr lang="en-IN" sz="900" spc="0" baseline="0">
                    <a:ln/>
                    <a:solidFill>
                      <a:srgbClr val="0C447C"/>
                    </a:solidFill>
                    <a:latin typeface="Segoe UI"/>
                    <a:cs typeface="Segoe UI"/>
                    <a:sym typeface="Segoe UI"/>
                    <a:rtl val="0"/>
                  </a:rPr>
                  <a:t>API gateway</a:t>
                </a:r>
              </a:p>
            </p:txBody>
          </p:sp>
          <p:sp>
            <p:nvSpPr>
              <p:cNvPr id="102" name="TextBox 101">
                <a:extLst>
                  <a:ext uri="{FF2B5EF4-FFF2-40B4-BE49-F238E27FC236}">
                    <a16:creationId xmlns:a16="http://schemas.microsoft.com/office/drawing/2014/main" id="{86BD766E-DF6A-BB62-6021-55CF15309CD8}"/>
                  </a:ext>
                </a:extLst>
              </p:cNvPr>
              <p:cNvSpPr txBox="1"/>
              <p:nvPr/>
            </p:nvSpPr>
            <p:spPr>
              <a:xfrm>
                <a:off x="5122681" y="465314"/>
                <a:ext cx="1271502" cy="230832"/>
              </a:xfrm>
              <a:prstGeom prst="rect">
                <a:avLst/>
              </a:prstGeom>
              <a:noFill/>
            </p:spPr>
            <p:txBody>
              <a:bodyPr wrap="none" rtlCol="0">
                <a:spAutoFit/>
              </a:bodyPr>
              <a:lstStyle/>
              <a:p>
                <a:pPr algn="l"/>
                <a:r>
                  <a:rPr lang="en-IN" sz="900" spc="0" baseline="0" dirty="0">
                    <a:ln/>
                    <a:solidFill>
                      <a:srgbClr val="185FA5"/>
                    </a:solidFill>
                    <a:latin typeface="Segoe UI"/>
                    <a:cs typeface="Segoe UI"/>
                    <a:sym typeface="Segoe UI"/>
                    <a:rtl val="0"/>
                  </a:rPr>
                  <a:t>Amazon API Gateway</a:t>
                </a:r>
              </a:p>
            </p:txBody>
          </p:sp>
          <p:sp>
            <p:nvSpPr>
              <p:cNvPr id="103" name="TextBox 102">
                <a:extLst>
                  <a:ext uri="{FF2B5EF4-FFF2-40B4-BE49-F238E27FC236}">
                    <a16:creationId xmlns:a16="http://schemas.microsoft.com/office/drawing/2014/main" id="{BF4B76F0-0540-45F4-DF18-C5634D16DAFB}"/>
                  </a:ext>
                </a:extLst>
              </p:cNvPr>
              <p:cNvSpPr txBox="1"/>
              <p:nvPr/>
            </p:nvSpPr>
            <p:spPr>
              <a:xfrm>
                <a:off x="5234599" y="584229"/>
                <a:ext cx="1104790" cy="230832"/>
              </a:xfrm>
              <a:prstGeom prst="rect">
                <a:avLst/>
              </a:prstGeom>
              <a:noFill/>
            </p:spPr>
            <p:txBody>
              <a:bodyPr wrap="none" rtlCol="0">
                <a:spAutoFit/>
              </a:bodyPr>
              <a:lstStyle/>
              <a:p>
                <a:pPr algn="l"/>
                <a:r>
                  <a:rPr lang="en-IN" sz="900" spc="0" baseline="0" dirty="0">
                    <a:ln/>
                    <a:solidFill>
                      <a:srgbClr val="185FA5"/>
                    </a:solidFill>
                    <a:latin typeface="Segoe UI"/>
                    <a:cs typeface="Segoe UI"/>
                    <a:sym typeface="Segoe UI"/>
                    <a:rtl val="0"/>
                  </a:rPr>
                  <a:t>Entry &amp; auth layer</a:t>
                </a:r>
              </a:p>
            </p:txBody>
          </p:sp>
        </p:grpSp>
        <p:grpSp>
          <p:nvGrpSpPr>
            <p:cNvPr id="104" name="Graphic 4">
              <a:extLst>
                <a:ext uri="{FF2B5EF4-FFF2-40B4-BE49-F238E27FC236}">
                  <a16:creationId xmlns:a16="http://schemas.microsoft.com/office/drawing/2014/main" id="{0418A048-5CCF-A8A0-854A-3D19EA1DFBE7}"/>
                </a:ext>
              </a:extLst>
            </p:cNvPr>
            <p:cNvGrpSpPr/>
            <p:nvPr/>
          </p:nvGrpSpPr>
          <p:grpSpPr>
            <a:xfrm>
              <a:off x="6594249" y="334566"/>
              <a:ext cx="1679510" cy="469720"/>
              <a:chOff x="6515877" y="338493"/>
              <a:chExt cx="1679510" cy="469720"/>
            </a:xfrm>
          </p:grpSpPr>
          <p:sp>
            <p:nvSpPr>
              <p:cNvPr id="105" name="Rectangle: Rounded Corners 104">
                <a:extLst>
                  <a:ext uri="{FF2B5EF4-FFF2-40B4-BE49-F238E27FC236}">
                    <a16:creationId xmlns:a16="http://schemas.microsoft.com/office/drawing/2014/main" id="{85F2687D-6557-2D3E-4E39-70128BA5A644}"/>
                  </a:ext>
                </a:extLst>
              </p:cNvPr>
              <p:cNvSpPr/>
              <p:nvPr/>
            </p:nvSpPr>
            <p:spPr>
              <a:xfrm>
                <a:off x="6515877" y="363893"/>
                <a:ext cx="1679510" cy="433873"/>
              </a:xfrm>
              <a:prstGeom prst="roundRect">
                <a:avLst>
                  <a:gd name="adj" fmla="val 12903"/>
                </a:avLst>
              </a:prstGeom>
              <a:solidFill>
                <a:srgbClr val="E1F5EE"/>
              </a:solidFill>
              <a:ln w="3495" cap="flat">
                <a:solidFill>
                  <a:srgbClr val="0F6E56"/>
                </a:solidFill>
                <a:prstDash val="solid"/>
                <a:miter/>
              </a:ln>
            </p:spPr>
          </p:sp>
          <p:sp>
            <p:nvSpPr>
              <p:cNvPr id="106" name="TextBox 105">
                <a:extLst>
                  <a:ext uri="{FF2B5EF4-FFF2-40B4-BE49-F238E27FC236}">
                    <a16:creationId xmlns:a16="http://schemas.microsoft.com/office/drawing/2014/main" id="{72AEAD3C-06C1-34F5-6CEA-154F21017765}"/>
                  </a:ext>
                </a:extLst>
              </p:cNvPr>
              <p:cNvSpPr txBox="1"/>
              <p:nvPr/>
            </p:nvSpPr>
            <p:spPr>
              <a:xfrm>
                <a:off x="6807069" y="338493"/>
                <a:ext cx="1253869" cy="230832"/>
              </a:xfrm>
              <a:prstGeom prst="rect">
                <a:avLst/>
              </a:prstGeom>
              <a:noFill/>
            </p:spPr>
            <p:txBody>
              <a:bodyPr wrap="none" rtlCol="0">
                <a:spAutoFit/>
              </a:bodyPr>
              <a:lstStyle/>
              <a:p>
                <a:pPr algn="l"/>
                <a:r>
                  <a:rPr lang="en-IN" sz="900" spc="0" baseline="0" dirty="0">
                    <a:ln/>
                    <a:solidFill>
                      <a:srgbClr val="085041"/>
                    </a:solidFill>
                    <a:latin typeface="Segoe UI"/>
                    <a:cs typeface="Segoe UI"/>
                    <a:sym typeface="Segoe UI"/>
                    <a:rtl val="0"/>
                  </a:rPr>
                  <a:t>Core banking system</a:t>
                </a:r>
              </a:p>
            </p:txBody>
          </p:sp>
          <p:sp>
            <p:nvSpPr>
              <p:cNvPr id="107" name="TextBox 106">
                <a:extLst>
                  <a:ext uri="{FF2B5EF4-FFF2-40B4-BE49-F238E27FC236}">
                    <a16:creationId xmlns:a16="http://schemas.microsoft.com/office/drawing/2014/main" id="{3D569492-58E9-B671-88A5-F4B0436BB5D3}"/>
                  </a:ext>
                </a:extLst>
              </p:cNvPr>
              <p:cNvSpPr txBox="1"/>
              <p:nvPr/>
            </p:nvSpPr>
            <p:spPr>
              <a:xfrm>
                <a:off x="6793544" y="464209"/>
                <a:ext cx="1300356" cy="230832"/>
              </a:xfrm>
              <a:prstGeom prst="rect">
                <a:avLst/>
              </a:prstGeom>
              <a:noFill/>
            </p:spPr>
            <p:txBody>
              <a:bodyPr wrap="none" rtlCol="0">
                <a:spAutoFit/>
              </a:bodyPr>
              <a:lstStyle/>
              <a:p>
                <a:pPr algn="l"/>
                <a:r>
                  <a:rPr lang="en-IN" sz="900" spc="0" baseline="0">
                    <a:ln/>
                    <a:solidFill>
                      <a:srgbClr val="0F6E56"/>
                    </a:solidFill>
                    <a:latin typeface="Segoe UI"/>
                    <a:cs typeface="Segoe UI"/>
                    <a:sym typeface="Segoe UI"/>
                    <a:rtl val="0"/>
                  </a:rPr>
                  <a:t>Amazon RDS / Aurora</a:t>
                </a:r>
              </a:p>
            </p:txBody>
          </p:sp>
          <p:sp>
            <p:nvSpPr>
              <p:cNvPr id="108" name="TextBox 107">
                <a:extLst>
                  <a:ext uri="{FF2B5EF4-FFF2-40B4-BE49-F238E27FC236}">
                    <a16:creationId xmlns:a16="http://schemas.microsoft.com/office/drawing/2014/main" id="{8ECC96BD-2CCA-09D2-DFFF-F7B9F104B0B2}"/>
                  </a:ext>
                </a:extLst>
              </p:cNvPr>
              <p:cNvSpPr txBox="1"/>
              <p:nvPr/>
            </p:nvSpPr>
            <p:spPr>
              <a:xfrm>
                <a:off x="6742933" y="577381"/>
                <a:ext cx="1422184" cy="230832"/>
              </a:xfrm>
              <a:prstGeom prst="rect">
                <a:avLst/>
              </a:prstGeom>
              <a:noFill/>
            </p:spPr>
            <p:txBody>
              <a:bodyPr wrap="none" rtlCol="0">
                <a:spAutoFit/>
              </a:bodyPr>
              <a:lstStyle/>
              <a:p>
                <a:pPr algn="l"/>
                <a:r>
                  <a:rPr lang="en-IN" sz="900" spc="0" baseline="0" dirty="0">
                    <a:ln/>
                    <a:solidFill>
                      <a:srgbClr val="0F6E56"/>
                    </a:solidFill>
                    <a:latin typeface="Segoe UI"/>
                    <a:cs typeface="Segoe UI"/>
                    <a:sym typeface="Segoe UI"/>
                    <a:rtl val="0"/>
                  </a:rPr>
                  <a:t>Accounts &amp; transactions</a:t>
                </a:r>
              </a:p>
            </p:txBody>
          </p:sp>
        </p:grpSp>
        <p:sp>
          <p:nvSpPr>
            <p:cNvPr id="109" name="Freeform: Shape 108">
              <a:extLst>
                <a:ext uri="{FF2B5EF4-FFF2-40B4-BE49-F238E27FC236}">
                  <a16:creationId xmlns:a16="http://schemas.microsoft.com/office/drawing/2014/main" id="{5E5B3046-E844-91C5-2176-B2E2D403C148}"/>
                </a:ext>
              </a:extLst>
            </p:cNvPr>
            <p:cNvSpPr/>
            <p:nvPr/>
          </p:nvSpPr>
          <p:spPr>
            <a:xfrm>
              <a:off x="6375918" y="580830"/>
              <a:ext cx="245321" cy="45719"/>
            </a:xfrm>
            <a:custGeom>
              <a:avLst/>
              <a:gdLst>
                <a:gd name="csX0" fmla="*/ 0 w 132961"/>
                <a:gd name="csY0" fmla="*/ 0 h 6997"/>
                <a:gd name="csX1" fmla="*/ 132961 w 132961"/>
                <a:gd name="csY1" fmla="*/ 0 h 6997"/>
              </a:gdLst>
              <a:ahLst/>
              <a:cxnLst>
                <a:cxn ang="0">
                  <a:pos x="csX0" y="csY0"/>
                </a:cxn>
                <a:cxn ang="0">
                  <a:pos x="csX1" y="csY1"/>
                </a:cxn>
              </a:cxnLst>
              <a:rect l="l" t="t" r="r" b="b"/>
              <a:pathLst>
                <a:path w="132961" h="6997">
                  <a:moveTo>
                    <a:pt x="0" y="0"/>
                  </a:moveTo>
                  <a:lnTo>
                    <a:pt x="132961" y="0"/>
                  </a:lnTo>
                </a:path>
              </a:pathLst>
            </a:custGeom>
            <a:ln w="6990" cap="flat">
              <a:solidFill>
                <a:srgbClr val="378ADD">
                  <a:alpha val="60000"/>
                </a:srgbClr>
              </a:solidFill>
              <a:prstDash val="solid"/>
              <a:miter/>
            </a:ln>
          </p:spPr>
        </p:sp>
        <p:sp>
          <p:nvSpPr>
            <p:cNvPr id="110" name="TextBox 109">
              <a:extLst>
                <a:ext uri="{FF2B5EF4-FFF2-40B4-BE49-F238E27FC236}">
                  <a16:creationId xmlns:a16="http://schemas.microsoft.com/office/drawing/2014/main" id="{DE8EC87A-6167-D652-097A-5486EBC73731}"/>
                </a:ext>
              </a:extLst>
            </p:cNvPr>
            <p:cNvSpPr txBox="1"/>
            <p:nvPr/>
          </p:nvSpPr>
          <p:spPr>
            <a:xfrm>
              <a:off x="6330904" y="393616"/>
              <a:ext cx="335348" cy="215444"/>
            </a:xfrm>
            <a:prstGeom prst="rect">
              <a:avLst/>
            </a:prstGeom>
            <a:noFill/>
          </p:spPr>
          <p:txBody>
            <a:bodyPr wrap="none" rtlCol="0">
              <a:spAutoFit/>
            </a:bodyPr>
            <a:lstStyle/>
            <a:p>
              <a:pPr algn="l"/>
              <a:r>
                <a:rPr lang="en-IN" sz="800" spc="0" baseline="0" dirty="0">
                  <a:ln/>
                  <a:solidFill>
                    <a:srgbClr val="3D3D3A"/>
                  </a:solidFill>
                  <a:latin typeface="Segoe UI"/>
                  <a:cs typeface="Segoe UI"/>
                  <a:sym typeface="Segoe UI"/>
                  <a:rtl val="0"/>
                </a:rPr>
                <a:t>API</a:t>
              </a:r>
            </a:p>
          </p:txBody>
        </p:sp>
        <p:grpSp>
          <p:nvGrpSpPr>
            <p:cNvPr id="111" name="Graphic 4">
              <a:extLst>
                <a:ext uri="{FF2B5EF4-FFF2-40B4-BE49-F238E27FC236}">
                  <a16:creationId xmlns:a16="http://schemas.microsoft.com/office/drawing/2014/main" id="{F8AECC2B-11A6-52D6-9107-58787EC5FFB2}"/>
                </a:ext>
              </a:extLst>
            </p:cNvPr>
            <p:cNvGrpSpPr/>
            <p:nvPr/>
          </p:nvGrpSpPr>
          <p:grpSpPr>
            <a:xfrm>
              <a:off x="5186265" y="1193201"/>
              <a:ext cx="1913494" cy="514300"/>
              <a:chOff x="5186265" y="1193201"/>
              <a:chExt cx="1890333" cy="514300"/>
            </a:xfrm>
          </p:grpSpPr>
          <p:sp>
            <p:nvSpPr>
              <p:cNvPr id="112" name="Rectangle: Rounded Corners 111">
                <a:extLst>
                  <a:ext uri="{FF2B5EF4-FFF2-40B4-BE49-F238E27FC236}">
                    <a16:creationId xmlns:a16="http://schemas.microsoft.com/office/drawing/2014/main" id="{634012EF-9FC8-1CE5-AD74-6FD1840B4EDB}"/>
                  </a:ext>
                </a:extLst>
              </p:cNvPr>
              <p:cNvSpPr/>
              <p:nvPr/>
            </p:nvSpPr>
            <p:spPr>
              <a:xfrm>
                <a:off x="5186265" y="1203648"/>
                <a:ext cx="1819469" cy="503853"/>
              </a:xfrm>
              <a:prstGeom prst="roundRect">
                <a:avLst>
                  <a:gd name="adj" fmla="val 13888"/>
                </a:avLst>
              </a:prstGeom>
              <a:solidFill>
                <a:srgbClr val="EEEDFE"/>
              </a:solidFill>
              <a:ln w="6990" cap="flat">
                <a:solidFill>
                  <a:srgbClr val="534AB7"/>
                </a:solidFill>
                <a:prstDash val="solid"/>
                <a:miter/>
              </a:ln>
            </p:spPr>
          </p:sp>
          <p:sp>
            <p:nvSpPr>
              <p:cNvPr id="113" name="TextBox 112">
                <a:extLst>
                  <a:ext uri="{FF2B5EF4-FFF2-40B4-BE49-F238E27FC236}">
                    <a16:creationId xmlns:a16="http://schemas.microsoft.com/office/drawing/2014/main" id="{58EEB1DD-DD6E-C844-BF5D-FC2D705D228C}"/>
                  </a:ext>
                </a:extLst>
              </p:cNvPr>
              <p:cNvSpPr txBox="1"/>
              <p:nvPr/>
            </p:nvSpPr>
            <p:spPr>
              <a:xfrm>
                <a:off x="5680367" y="1193201"/>
                <a:ext cx="824265" cy="230832"/>
              </a:xfrm>
              <a:prstGeom prst="rect">
                <a:avLst/>
              </a:prstGeom>
              <a:noFill/>
            </p:spPr>
            <p:txBody>
              <a:bodyPr wrap="none" rtlCol="0">
                <a:spAutoFit/>
              </a:bodyPr>
              <a:lstStyle/>
              <a:p>
                <a:pPr algn="l"/>
                <a:r>
                  <a:rPr lang="en-IN" sz="900" spc="0" baseline="0" dirty="0">
                    <a:ln/>
                    <a:solidFill>
                      <a:srgbClr val="3C3489"/>
                    </a:solidFill>
                    <a:latin typeface="Segoe UI"/>
                    <a:cs typeface="Segoe UI"/>
                    <a:sym typeface="Segoe UI"/>
                    <a:rtl val="0"/>
                  </a:rPr>
                  <a:t>Orchestrator</a:t>
                </a:r>
              </a:p>
            </p:txBody>
          </p:sp>
          <p:sp>
            <p:nvSpPr>
              <p:cNvPr id="114" name="TextBox 113">
                <a:extLst>
                  <a:ext uri="{FF2B5EF4-FFF2-40B4-BE49-F238E27FC236}">
                    <a16:creationId xmlns:a16="http://schemas.microsoft.com/office/drawing/2014/main" id="{EB1B0D58-3C46-CB41-3769-C7863EC9EEAB}"/>
                  </a:ext>
                </a:extLst>
              </p:cNvPr>
              <p:cNvSpPr txBox="1"/>
              <p:nvPr/>
            </p:nvSpPr>
            <p:spPr>
              <a:xfrm>
                <a:off x="5291014" y="1336056"/>
                <a:ext cx="1745991" cy="230832"/>
              </a:xfrm>
              <a:prstGeom prst="rect">
                <a:avLst/>
              </a:prstGeom>
              <a:noFill/>
            </p:spPr>
            <p:txBody>
              <a:bodyPr wrap="none" rtlCol="0">
                <a:spAutoFit/>
              </a:bodyPr>
              <a:lstStyle/>
              <a:p>
                <a:pPr algn="l"/>
                <a:r>
                  <a:rPr lang="en-IN" sz="900" spc="0" baseline="0" dirty="0">
                    <a:ln/>
                    <a:solidFill>
                      <a:srgbClr val="534AB7"/>
                    </a:solidFill>
                    <a:latin typeface="Segoe UI"/>
                    <a:cs typeface="Segoe UI"/>
                    <a:sym typeface="Segoe UI"/>
                    <a:rtl val="0"/>
                  </a:rPr>
                  <a:t>Amazon Bedrock (multi-agent)</a:t>
                </a:r>
              </a:p>
            </p:txBody>
          </p:sp>
          <p:sp>
            <p:nvSpPr>
              <p:cNvPr id="115" name="TextBox 114">
                <a:extLst>
                  <a:ext uri="{FF2B5EF4-FFF2-40B4-BE49-F238E27FC236}">
                    <a16:creationId xmlns:a16="http://schemas.microsoft.com/office/drawing/2014/main" id="{E78F984A-F524-2416-B4A7-BFDB855825F5}"/>
                  </a:ext>
                </a:extLst>
              </p:cNvPr>
              <p:cNvSpPr txBox="1"/>
              <p:nvPr/>
            </p:nvSpPr>
            <p:spPr>
              <a:xfrm>
                <a:off x="5213587" y="1462482"/>
                <a:ext cx="1863011" cy="230832"/>
              </a:xfrm>
              <a:prstGeom prst="rect">
                <a:avLst/>
              </a:prstGeom>
              <a:noFill/>
            </p:spPr>
            <p:txBody>
              <a:bodyPr wrap="none" rtlCol="0">
                <a:spAutoFit/>
              </a:bodyPr>
              <a:lstStyle/>
              <a:p>
                <a:pPr algn="l"/>
                <a:r>
                  <a:rPr lang="en-IN" sz="900" spc="0" baseline="0" dirty="0">
                    <a:ln/>
                    <a:solidFill>
                      <a:srgbClr val="534AB7"/>
                    </a:solidFill>
                    <a:latin typeface="Segoe UI"/>
                    <a:cs typeface="Segoe UI"/>
                    <a:sym typeface="Segoe UI"/>
                    <a:rtl val="0"/>
                  </a:rPr>
                  <a:t>+ AWS Lambda workflow control</a:t>
                </a:r>
              </a:p>
            </p:txBody>
          </p:sp>
        </p:grpSp>
        <p:sp>
          <p:nvSpPr>
            <p:cNvPr id="116" name="Freeform: Shape 115">
              <a:extLst>
                <a:ext uri="{FF2B5EF4-FFF2-40B4-BE49-F238E27FC236}">
                  <a16:creationId xmlns:a16="http://schemas.microsoft.com/office/drawing/2014/main" id="{1E9B4573-6730-5016-A8CD-5945B3EC3E0A}"/>
                </a:ext>
              </a:extLst>
            </p:cNvPr>
            <p:cNvSpPr/>
            <p:nvPr/>
          </p:nvSpPr>
          <p:spPr>
            <a:xfrm>
              <a:off x="5711112" y="797767"/>
              <a:ext cx="104969" cy="398883"/>
            </a:xfrm>
            <a:custGeom>
              <a:avLst/>
              <a:gdLst>
                <a:gd name="csX0" fmla="*/ 0 w 104969"/>
                <a:gd name="csY0" fmla="*/ 0 h 398883"/>
                <a:gd name="csX1" fmla="*/ 104969 w 104969"/>
                <a:gd name="csY1" fmla="*/ 398884 h 398883"/>
              </a:gdLst>
              <a:ahLst/>
              <a:cxnLst>
                <a:cxn ang="0">
                  <a:pos x="csX0" y="csY0"/>
                </a:cxn>
                <a:cxn ang="0">
                  <a:pos x="csX1" y="csY1"/>
                </a:cxn>
              </a:cxnLst>
              <a:rect l="l" t="t" r="r" b="b"/>
              <a:pathLst>
                <a:path w="104969" h="398883">
                  <a:moveTo>
                    <a:pt x="0" y="0"/>
                  </a:moveTo>
                  <a:lnTo>
                    <a:pt x="104969" y="398884"/>
                  </a:lnTo>
                </a:path>
              </a:pathLst>
            </a:custGeom>
            <a:ln w="6990" cap="flat">
              <a:solidFill>
                <a:srgbClr val="378ADD">
                  <a:alpha val="50000"/>
                </a:srgbClr>
              </a:solidFill>
              <a:prstDash val="solid"/>
              <a:miter/>
            </a:ln>
          </p:spPr>
        </p:sp>
        <p:sp>
          <p:nvSpPr>
            <p:cNvPr id="117" name="TextBox 116">
              <a:extLst>
                <a:ext uri="{FF2B5EF4-FFF2-40B4-BE49-F238E27FC236}">
                  <a16:creationId xmlns:a16="http://schemas.microsoft.com/office/drawing/2014/main" id="{6008FD9B-E22F-8F1C-7E70-78361D16E1F2}"/>
                </a:ext>
              </a:extLst>
            </p:cNvPr>
            <p:cNvSpPr txBox="1"/>
            <p:nvPr/>
          </p:nvSpPr>
          <p:spPr>
            <a:xfrm>
              <a:off x="5475134" y="885363"/>
              <a:ext cx="352982" cy="230832"/>
            </a:xfrm>
            <a:prstGeom prst="rect">
              <a:avLst/>
            </a:prstGeom>
            <a:noFill/>
          </p:spPr>
          <p:txBody>
            <a:bodyPr wrap="none" rtlCol="0">
              <a:spAutoFit/>
            </a:bodyPr>
            <a:lstStyle/>
            <a:p>
              <a:pPr algn="l"/>
              <a:r>
                <a:rPr lang="en-IN" sz="900" spc="0" baseline="0">
                  <a:ln/>
                  <a:solidFill>
                    <a:srgbClr val="3D3D3A"/>
                  </a:solidFill>
                  <a:latin typeface="Segoe UI"/>
                  <a:cs typeface="Segoe UI"/>
                  <a:sym typeface="Segoe UI"/>
                  <a:rtl val="0"/>
                </a:rPr>
                <a:t>API</a:t>
              </a:r>
            </a:p>
          </p:txBody>
        </p:sp>
        <p:sp>
          <p:nvSpPr>
            <p:cNvPr id="118" name="Freeform: Shape 117">
              <a:extLst>
                <a:ext uri="{FF2B5EF4-FFF2-40B4-BE49-F238E27FC236}">
                  <a16:creationId xmlns:a16="http://schemas.microsoft.com/office/drawing/2014/main" id="{C0ADDD35-1BEC-4C80-6491-5FE33B459024}"/>
                </a:ext>
              </a:extLst>
            </p:cNvPr>
            <p:cNvSpPr/>
            <p:nvPr/>
          </p:nvSpPr>
          <p:spPr>
            <a:xfrm>
              <a:off x="7012732" y="797767"/>
              <a:ext cx="342899" cy="405881"/>
            </a:xfrm>
            <a:custGeom>
              <a:avLst/>
              <a:gdLst>
                <a:gd name="csX0" fmla="*/ 342900 w 342899"/>
                <a:gd name="csY0" fmla="*/ 0 h 405881"/>
                <a:gd name="csX1" fmla="*/ 342900 w 342899"/>
                <a:gd name="csY1" fmla="*/ 307910 h 405881"/>
                <a:gd name="csX2" fmla="*/ 0 w 342899"/>
                <a:gd name="csY2" fmla="*/ 405882 h 405881"/>
              </a:gdLst>
              <a:ahLst/>
              <a:cxnLst>
                <a:cxn ang="0">
                  <a:pos x="csX0" y="csY0"/>
                </a:cxn>
                <a:cxn ang="0">
                  <a:pos x="csX1" y="csY1"/>
                </a:cxn>
                <a:cxn ang="0">
                  <a:pos x="csX2" y="csY2"/>
                </a:cxn>
              </a:cxnLst>
              <a:rect l="l" t="t" r="r" b="b"/>
              <a:pathLst>
                <a:path w="342899" h="405881">
                  <a:moveTo>
                    <a:pt x="342900" y="0"/>
                  </a:moveTo>
                  <a:lnTo>
                    <a:pt x="342900" y="307910"/>
                  </a:lnTo>
                  <a:lnTo>
                    <a:pt x="0" y="405882"/>
                  </a:lnTo>
                </a:path>
              </a:pathLst>
            </a:custGeom>
            <a:noFill/>
            <a:ln w="5592" cap="flat">
              <a:solidFill>
                <a:srgbClr val="1D9E75">
                  <a:alpha val="40000"/>
                </a:srgbClr>
              </a:solidFill>
              <a:prstDash val="solid"/>
              <a:miter/>
            </a:ln>
          </p:spPr>
        </p:sp>
        <p:grpSp>
          <p:nvGrpSpPr>
            <p:cNvPr id="119" name="Graphic 4">
              <a:extLst>
                <a:ext uri="{FF2B5EF4-FFF2-40B4-BE49-F238E27FC236}">
                  <a16:creationId xmlns:a16="http://schemas.microsoft.com/office/drawing/2014/main" id="{F92584AD-57B4-5381-7558-B4A09C35D51B}"/>
                </a:ext>
              </a:extLst>
            </p:cNvPr>
            <p:cNvGrpSpPr/>
            <p:nvPr/>
          </p:nvGrpSpPr>
          <p:grpSpPr>
            <a:xfrm>
              <a:off x="3828661" y="2157885"/>
              <a:ext cx="1476569" cy="529330"/>
              <a:chOff x="3828661" y="2157885"/>
              <a:chExt cx="1476569" cy="529330"/>
            </a:xfrm>
          </p:grpSpPr>
          <p:sp>
            <p:nvSpPr>
              <p:cNvPr id="120" name="Rectangle: Rounded Corners 119">
                <a:extLst>
                  <a:ext uri="{FF2B5EF4-FFF2-40B4-BE49-F238E27FC236}">
                    <a16:creationId xmlns:a16="http://schemas.microsoft.com/office/drawing/2014/main" id="{5CA2EE75-01DD-CFD9-133B-AA3EBBF3BEFE}"/>
                  </a:ext>
                </a:extLst>
              </p:cNvPr>
              <p:cNvSpPr/>
              <p:nvPr/>
            </p:nvSpPr>
            <p:spPr>
              <a:xfrm>
                <a:off x="3828661" y="2169367"/>
                <a:ext cx="1469571" cy="517848"/>
              </a:xfrm>
              <a:prstGeom prst="roundRect">
                <a:avLst>
                  <a:gd name="adj" fmla="val 10810"/>
                </a:avLst>
              </a:prstGeom>
              <a:solidFill>
                <a:srgbClr val="FAECE7"/>
              </a:solidFill>
              <a:ln w="3495" cap="flat">
                <a:solidFill>
                  <a:srgbClr val="993C1D"/>
                </a:solidFill>
                <a:prstDash val="solid"/>
                <a:miter/>
              </a:ln>
            </p:spPr>
          </p:sp>
          <p:sp>
            <p:nvSpPr>
              <p:cNvPr id="121" name="TextBox 120">
                <a:extLst>
                  <a:ext uri="{FF2B5EF4-FFF2-40B4-BE49-F238E27FC236}">
                    <a16:creationId xmlns:a16="http://schemas.microsoft.com/office/drawing/2014/main" id="{AFFB67E8-6D03-2C24-92F8-C37C19EA13DD}"/>
                  </a:ext>
                </a:extLst>
              </p:cNvPr>
              <p:cNvSpPr txBox="1"/>
              <p:nvPr/>
            </p:nvSpPr>
            <p:spPr>
              <a:xfrm>
                <a:off x="4240664" y="2157885"/>
                <a:ext cx="732893" cy="230832"/>
              </a:xfrm>
              <a:prstGeom prst="rect">
                <a:avLst/>
              </a:prstGeom>
              <a:noFill/>
            </p:spPr>
            <p:txBody>
              <a:bodyPr wrap="none" rtlCol="0">
                <a:spAutoFit/>
              </a:bodyPr>
              <a:lstStyle/>
              <a:p>
                <a:pPr algn="l"/>
                <a:r>
                  <a:rPr lang="en-IN" sz="900" spc="0" baseline="0">
                    <a:ln/>
                    <a:solidFill>
                      <a:srgbClr val="712B13"/>
                    </a:solidFill>
                    <a:latin typeface="Segoe UI"/>
                    <a:cs typeface="Segoe UI"/>
                    <a:sym typeface="Segoe UI"/>
                    <a:rtl val="0"/>
                  </a:rPr>
                  <a:t>Policy RAG</a:t>
                </a:r>
              </a:p>
            </p:txBody>
          </p:sp>
          <p:sp>
            <p:nvSpPr>
              <p:cNvPr id="122" name="TextBox 121">
                <a:extLst>
                  <a:ext uri="{FF2B5EF4-FFF2-40B4-BE49-F238E27FC236}">
                    <a16:creationId xmlns:a16="http://schemas.microsoft.com/office/drawing/2014/main" id="{291CFEEA-388B-16FF-4FD4-9E89C6FCBFF4}"/>
                  </a:ext>
                </a:extLst>
              </p:cNvPr>
              <p:cNvSpPr txBox="1"/>
              <p:nvPr/>
            </p:nvSpPr>
            <p:spPr>
              <a:xfrm>
                <a:off x="3919914" y="2295312"/>
                <a:ext cx="1385316" cy="230832"/>
              </a:xfrm>
              <a:prstGeom prst="rect">
                <a:avLst/>
              </a:prstGeom>
              <a:noFill/>
            </p:spPr>
            <p:txBody>
              <a:bodyPr wrap="none" rtlCol="0">
                <a:spAutoFit/>
              </a:bodyPr>
              <a:lstStyle/>
              <a:p>
                <a:pPr algn="l"/>
                <a:r>
                  <a:rPr lang="en-IN" sz="900" spc="0" baseline="0" dirty="0">
                    <a:ln/>
                    <a:solidFill>
                      <a:srgbClr val="993C1D"/>
                    </a:solidFill>
                    <a:latin typeface="Segoe UI"/>
                    <a:cs typeface="Segoe UI"/>
                    <a:sym typeface="Segoe UI"/>
                    <a:rtl val="0"/>
                  </a:rPr>
                  <a:t>Amazon Bedrock Agent</a:t>
                </a:r>
              </a:p>
            </p:txBody>
          </p:sp>
          <p:sp>
            <p:nvSpPr>
              <p:cNvPr id="123" name="TextBox 122">
                <a:extLst>
                  <a:ext uri="{FF2B5EF4-FFF2-40B4-BE49-F238E27FC236}">
                    <a16:creationId xmlns:a16="http://schemas.microsoft.com/office/drawing/2014/main" id="{C17080FB-9116-6AFC-C3FD-96C187316B3B}"/>
                  </a:ext>
                </a:extLst>
              </p:cNvPr>
              <p:cNvSpPr txBox="1"/>
              <p:nvPr/>
            </p:nvSpPr>
            <p:spPr>
              <a:xfrm>
                <a:off x="4056153" y="2411586"/>
                <a:ext cx="1106393" cy="230832"/>
              </a:xfrm>
              <a:prstGeom prst="rect">
                <a:avLst/>
              </a:prstGeom>
              <a:noFill/>
            </p:spPr>
            <p:txBody>
              <a:bodyPr wrap="none" rtlCol="0">
                <a:spAutoFit/>
              </a:bodyPr>
              <a:lstStyle/>
              <a:p>
                <a:pPr algn="l"/>
                <a:r>
                  <a:rPr lang="en-IN" sz="900" spc="0" baseline="0" dirty="0">
                    <a:ln/>
                    <a:solidFill>
                      <a:srgbClr val="993C1D"/>
                    </a:solidFill>
                    <a:latin typeface="Segoe UI"/>
                    <a:cs typeface="Segoe UI"/>
                    <a:sym typeface="Segoe UI"/>
                    <a:rtl val="0"/>
                  </a:rPr>
                  <a:t>+ Amazon Kendra</a:t>
                </a:r>
              </a:p>
            </p:txBody>
          </p:sp>
        </p:grpSp>
        <p:grpSp>
          <p:nvGrpSpPr>
            <p:cNvPr id="124" name="Graphic 4">
              <a:extLst>
                <a:ext uri="{FF2B5EF4-FFF2-40B4-BE49-F238E27FC236}">
                  <a16:creationId xmlns:a16="http://schemas.microsoft.com/office/drawing/2014/main" id="{22297A9A-EA9C-F64C-157F-10524F1252A0}"/>
                </a:ext>
              </a:extLst>
            </p:cNvPr>
            <p:cNvGrpSpPr/>
            <p:nvPr/>
          </p:nvGrpSpPr>
          <p:grpSpPr>
            <a:xfrm>
              <a:off x="6844019" y="2158848"/>
              <a:ext cx="1612942" cy="528367"/>
              <a:chOff x="6844019" y="2158848"/>
              <a:chExt cx="1612942" cy="528367"/>
            </a:xfrm>
          </p:grpSpPr>
          <p:sp>
            <p:nvSpPr>
              <p:cNvPr id="125" name="Rectangle: Rounded Corners 124">
                <a:extLst>
                  <a:ext uri="{FF2B5EF4-FFF2-40B4-BE49-F238E27FC236}">
                    <a16:creationId xmlns:a16="http://schemas.microsoft.com/office/drawing/2014/main" id="{FAB8791B-6EA2-5AC3-7958-31AD988BD97C}"/>
                  </a:ext>
                </a:extLst>
              </p:cNvPr>
              <p:cNvSpPr/>
              <p:nvPr/>
            </p:nvSpPr>
            <p:spPr>
              <a:xfrm>
                <a:off x="6893767" y="2169367"/>
                <a:ext cx="1469571" cy="517848"/>
              </a:xfrm>
              <a:prstGeom prst="roundRect">
                <a:avLst>
                  <a:gd name="adj" fmla="val 10810"/>
                </a:avLst>
              </a:prstGeom>
              <a:solidFill>
                <a:srgbClr val="FAECE7"/>
              </a:solidFill>
              <a:ln w="3495" cap="flat">
                <a:solidFill>
                  <a:srgbClr val="993C1D"/>
                </a:solidFill>
                <a:prstDash val="solid"/>
                <a:miter/>
              </a:ln>
            </p:spPr>
          </p:sp>
          <p:sp>
            <p:nvSpPr>
              <p:cNvPr id="126" name="TextBox 125">
                <a:extLst>
                  <a:ext uri="{FF2B5EF4-FFF2-40B4-BE49-F238E27FC236}">
                    <a16:creationId xmlns:a16="http://schemas.microsoft.com/office/drawing/2014/main" id="{0CD2C534-00B4-349E-0988-EB4FD83BFB1F}"/>
                  </a:ext>
                </a:extLst>
              </p:cNvPr>
              <p:cNvSpPr txBox="1"/>
              <p:nvPr/>
            </p:nvSpPr>
            <p:spPr>
              <a:xfrm>
                <a:off x="7182630" y="2158848"/>
                <a:ext cx="923651" cy="230832"/>
              </a:xfrm>
              <a:prstGeom prst="rect">
                <a:avLst/>
              </a:prstGeom>
              <a:noFill/>
            </p:spPr>
            <p:txBody>
              <a:bodyPr wrap="none" rtlCol="0">
                <a:spAutoFit/>
              </a:bodyPr>
              <a:lstStyle/>
              <a:p>
                <a:pPr algn="l"/>
                <a:r>
                  <a:rPr lang="en-IN" sz="900" spc="0" baseline="0" dirty="0">
                    <a:ln/>
                    <a:solidFill>
                      <a:srgbClr val="712B13"/>
                    </a:solidFill>
                    <a:latin typeface="Segoe UI"/>
                    <a:cs typeface="Segoe UI"/>
                    <a:sym typeface="Segoe UI"/>
                    <a:rtl val="0"/>
                  </a:rPr>
                  <a:t>Loan specialist</a:t>
                </a:r>
              </a:p>
            </p:txBody>
          </p:sp>
          <p:sp>
            <p:nvSpPr>
              <p:cNvPr id="127" name="TextBox 126">
                <a:extLst>
                  <a:ext uri="{FF2B5EF4-FFF2-40B4-BE49-F238E27FC236}">
                    <a16:creationId xmlns:a16="http://schemas.microsoft.com/office/drawing/2014/main" id="{0C6A734A-FEA8-CA3A-EEDB-DEE9B0AC3F83}"/>
                  </a:ext>
                </a:extLst>
              </p:cNvPr>
              <p:cNvSpPr txBox="1"/>
              <p:nvPr/>
            </p:nvSpPr>
            <p:spPr>
              <a:xfrm>
                <a:off x="7009829" y="2302033"/>
                <a:ext cx="1385316" cy="230832"/>
              </a:xfrm>
              <a:prstGeom prst="rect">
                <a:avLst/>
              </a:prstGeom>
              <a:noFill/>
            </p:spPr>
            <p:txBody>
              <a:bodyPr wrap="none" rtlCol="0">
                <a:spAutoFit/>
              </a:bodyPr>
              <a:lstStyle/>
              <a:p>
                <a:pPr algn="l"/>
                <a:r>
                  <a:rPr lang="en-IN" sz="900" spc="0" baseline="0" dirty="0">
                    <a:ln/>
                    <a:solidFill>
                      <a:srgbClr val="993C1D"/>
                    </a:solidFill>
                    <a:latin typeface="Segoe UI"/>
                    <a:cs typeface="Segoe UI"/>
                    <a:sym typeface="Segoe UI"/>
                    <a:rtl val="0"/>
                  </a:rPr>
                  <a:t>Amazon Bedrock Agent</a:t>
                </a:r>
              </a:p>
            </p:txBody>
          </p:sp>
          <p:sp>
            <p:nvSpPr>
              <p:cNvPr id="128" name="TextBox 127">
                <a:extLst>
                  <a:ext uri="{FF2B5EF4-FFF2-40B4-BE49-F238E27FC236}">
                    <a16:creationId xmlns:a16="http://schemas.microsoft.com/office/drawing/2014/main" id="{B1CF1DFC-975F-5459-7F88-12F13E8DDBA2}"/>
                  </a:ext>
                </a:extLst>
              </p:cNvPr>
              <p:cNvSpPr txBox="1"/>
              <p:nvPr/>
            </p:nvSpPr>
            <p:spPr>
              <a:xfrm>
                <a:off x="6844019" y="2430734"/>
                <a:ext cx="1612942" cy="230832"/>
              </a:xfrm>
              <a:prstGeom prst="rect">
                <a:avLst/>
              </a:prstGeom>
              <a:noFill/>
            </p:spPr>
            <p:txBody>
              <a:bodyPr wrap="none" rtlCol="0">
                <a:spAutoFit/>
              </a:bodyPr>
              <a:lstStyle/>
              <a:p>
                <a:pPr algn="l"/>
                <a:r>
                  <a:rPr lang="en-IN" sz="900" spc="0" baseline="0" dirty="0">
                    <a:ln/>
                    <a:solidFill>
                      <a:srgbClr val="993C1D"/>
                    </a:solidFill>
                    <a:latin typeface="Segoe UI"/>
                    <a:cs typeface="Segoe UI"/>
                    <a:sym typeface="Segoe UI"/>
                    <a:rtl val="0"/>
                  </a:rPr>
                  <a:t>Underwriting &amp; applications</a:t>
                </a:r>
              </a:p>
            </p:txBody>
          </p:sp>
        </p:grpSp>
        <p:sp>
          <p:nvSpPr>
            <p:cNvPr id="129" name="Freeform: Shape 128">
              <a:extLst>
                <a:ext uri="{FF2B5EF4-FFF2-40B4-BE49-F238E27FC236}">
                  <a16:creationId xmlns:a16="http://schemas.microsoft.com/office/drawing/2014/main" id="{EC6B7DA5-ACCA-A6EB-9DBB-47979D8C9D6B}"/>
                </a:ext>
              </a:extLst>
            </p:cNvPr>
            <p:cNvSpPr/>
            <p:nvPr/>
          </p:nvSpPr>
          <p:spPr>
            <a:xfrm>
              <a:off x="4563447" y="1455575"/>
              <a:ext cx="622818" cy="706793"/>
            </a:xfrm>
            <a:custGeom>
              <a:avLst/>
              <a:gdLst>
                <a:gd name="csX0" fmla="*/ 622818 w 622818"/>
                <a:gd name="csY0" fmla="*/ 0 h 706793"/>
                <a:gd name="csX1" fmla="*/ 0 w 622818"/>
                <a:gd name="csY1" fmla="*/ 0 h 706793"/>
                <a:gd name="csX2" fmla="*/ 0 w 622818"/>
                <a:gd name="csY2" fmla="*/ 706794 h 706793"/>
              </a:gdLst>
              <a:ahLst/>
              <a:cxnLst>
                <a:cxn ang="0">
                  <a:pos x="csX0" y="csY0"/>
                </a:cxn>
                <a:cxn ang="0">
                  <a:pos x="csX1" y="csY1"/>
                </a:cxn>
                <a:cxn ang="0">
                  <a:pos x="csX2" y="csY2"/>
                </a:cxn>
              </a:cxnLst>
              <a:rect l="l" t="t" r="r" b="b"/>
              <a:pathLst>
                <a:path w="622818" h="706793">
                  <a:moveTo>
                    <a:pt x="622818" y="0"/>
                  </a:moveTo>
                  <a:lnTo>
                    <a:pt x="0" y="0"/>
                  </a:lnTo>
                  <a:lnTo>
                    <a:pt x="0" y="706794"/>
                  </a:lnTo>
                </a:path>
              </a:pathLst>
            </a:custGeom>
            <a:noFill/>
            <a:ln w="6990" cap="flat">
              <a:solidFill>
                <a:srgbClr val="D85A30">
                  <a:alpha val="50000"/>
                </a:srgbClr>
              </a:solidFill>
              <a:prstDash val="solid"/>
              <a:miter/>
            </a:ln>
          </p:spPr>
        </p:sp>
        <p:sp>
          <p:nvSpPr>
            <p:cNvPr id="130" name="Freeform: Shape 129">
              <a:extLst>
                <a:ext uri="{FF2B5EF4-FFF2-40B4-BE49-F238E27FC236}">
                  <a16:creationId xmlns:a16="http://schemas.microsoft.com/office/drawing/2014/main" id="{326A3D4A-8CEF-85ED-7E98-179583D0DB5F}"/>
                </a:ext>
              </a:extLst>
            </p:cNvPr>
            <p:cNvSpPr/>
            <p:nvPr/>
          </p:nvSpPr>
          <p:spPr>
            <a:xfrm>
              <a:off x="7037134" y="1455575"/>
              <a:ext cx="622818" cy="706793"/>
            </a:xfrm>
            <a:custGeom>
              <a:avLst/>
              <a:gdLst>
                <a:gd name="csX0" fmla="*/ 0 w 622818"/>
                <a:gd name="csY0" fmla="*/ 0 h 706793"/>
                <a:gd name="csX1" fmla="*/ 622818 w 622818"/>
                <a:gd name="csY1" fmla="*/ 0 h 706793"/>
                <a:gd name="csX2" fmla="*/ 622818 w 622818"/>
                <a:gd name="csY2" fmla="*/ 706794 h 706793"/>
              </a:gdLst>
              <a:ahLst/>
              <a:cxnLst>
                <a:cxn ang="0">
                  <a:pos x="csX0" y="csY0"/>
                </a:cxn>
                <a:cxn ang="0">
                  <a:pos x="csX1" y="csY1"/>
                </a:cxn>
                <a:cxn ang="0">
                  <a:pos x="csX2" y="csY2"/>
                </a:cxn>
              </a:cxnLst>
              <a:rect l="l" t="t" r="r" b="b"/>
              <a:pathLst>
                <a:path w="622818" h="706793">
                  <a:moveTo>
                    <a:pt x="0" y="0"/>
                  </a:moveTo>
                  <a:lnTo>
                    <a:pt x="622818" y="0"/>
                  </a:lnTo>
                  <a:lnTo>
                    <a:pt x="622818" y="706794"/>
                  </a:lnTo>
                </a:path>
              </a:pathLst>
            </a:custGeom>
            <a:noFill/>
            <a:ln w="6990" cap="flat">
              <a:solidFill>
                <a:srgbClr val="D85A30">
                  <a:alpha val="50000"/>
                </a:srgbClr>
              </a:solidFill>
              <a:prstDash val="solid"/>
              <a:miter/>
            </a:ln>
          </p:spPr>
        </p:sp>
        <p:grpSp>
          <p:nvGrpSpPr>
            <p:cNvPr id="131" name="Graphic 4">
              <a:extLst>
                <a:ext uri="{FF2B5EF4-FFF2-40B4-BE49-F238E27FC236}">
                  <a16:creationId xmlns:a16="http://schemas.microsoft.com/office/drawing/2014/main" id="{25ACDB0B-7D9E-BE0C-7C3C-D2A43CEDF543}"/>
                </a:ext>
              </a:extLst>
            </p:cNvPr>
            <p:cNvGrpSpPr/>
            <p:nvPr/>
          </p:nvGrpSpPr>
          <p:grpSpPr>
            <a:xfrm>
              <a:off x="3856653" y="3053624"/>
              <a:ext cx="1529849" cy="479351"/>
              <a:chOff x="3856653" y="3053624"/>
              <a:chExt cx="1529849" cy="479351"/>
            </a:xfrm>
          </p:grpSpPr>
          <p:sp>
            <p:nvSpPr>
              <p:cNvPr id="132" name="Rectangle: Rounded Corners 131">
                <a:extLst>
                  <a:ext uri="{FF2B5EF4-FFF2-40B4-BE49-F238E27FC236}">
                    <a16:creationId xmlns:a16="http://schemas.microsoft.com/office/drawing/2014/main" id="{49DE5B17-CC83-94F8-1E29-8F03DC71D11B}"/>
                  </a:ext>
                </a:extLst>
              </p:cNvPr>
              <p:cNvSpPr/>
              <p:nvPr/>
            </p:nvSpPr>
            <p:spPr>
              <a:xfrm>
                <a:off x="3856653" y="3079102"/>
                <a:ext cx="1441579" cy="433873"/>
              </a:xfrm>
              <a:prstGeom prst="roundRect">
                <a:avLst>
                  <a:gd name="adj" fmla="val 12903"/>
                </a:avLst>
              </a:prstGeom>
              <a:solidFill>
                <a:srgbClr val="F1EFE8"/>
              </a:solidFill>
              <a:ln w="3495" cap="flat">
                <a:solidFill>
                  <a:srgbClr val="5F5E5A"/>
                </a:solidFill>
                <a:prstDash val="solid"/>
                <a:miter/>
              </a:ln>
            </p:spPr>
          </p:sp>
          <p:sp>
            <p:nvSpPr>
              <p:cNvPr id="133" name="TextBox 132">
                <a:extLst>
                  <a:ext uri="{FF2B5EF4-FFF2-40B4-BE49-F238E27FC236}">
                    <a16:creationId xmlns:a16="http://schemas.microsoft.com/office/drawing/2014/main" id="{D7467A98-D98F-1900-F130-E5190F3ECAB9}"/>
                  </a:ext>
                </a:extLst>
              </p:cNvPr>
              <p:cNvSpPr txBox="1"/>
              <p:nvPr/>
            </p:nvSpPr>
            <p:spPr>
              <a:xfrm>
                <a:off x="4131430" y="3053624"/>
                <a:ext cx="1021433" cy="230832"/>
              </a:xfrm>
              <a:prstGeom prst="rect">
                <a:avLst/>
              </a:prstGeom>
              <a:noFill/>
            </p:spPr>
            <p:txBody>
              <a:bodyPr wrap="none" rtlCol="0">
                <a:spAutoFit/>
              </a:bodyPr>
              <a:lstStyle/>
              <a:p>
                <a:pPr algn="l"/>
                <a:r>
                  <a:rPr lang="en-IN" sz="900" spc="0" baseline="0">
                    <a:ln/>
                    <a:solidFill>
                      <a:srgbClr val="444441"/>
                    </a:solidFill>
                    <a:latin typeface="Segoe UI"/>
                    <a:cs typeface="Segoe UI"/>
                    <a:sym typeface="Segoe UI"/>
                    <a:rtl val="0"/>
                  </a:rPr>
                  <a:t>Knowledge base</a:t>
                </a:r>
              </a:p>
            </p:txBody>
          </p:sp>
          <p:sp>
            <p:nvSpPr>
              <p:cNvPr id="134" name="TextBox 133">
                <a:extLst>
                  <a:ext uri="{FF2B5EF4-FFF2-40B4-BE49-F238E27FC236}">
                    <a16:creationId xmlns:a16="http://schemas.microsoft.com/office/drawing/2014/main" id="{E25E47F6-5587-52F2-DF77-D246C71F8923}"/>
                  </a:ext>
                </a:extLst>
              </p:cNvPr>
              <p:cNvSpPr txBox="1"/>
              <p:nvPr/>
            </p:nvSpPr>
            <p:spPr>
              <a:xfrm>
                <a:off x="3864932" y="3179728"/>
                <a:ext cx="1521570" cy="230832"/>
              </a:xfrm>
              <a:prstGeom prst="rect">
                <a:avLst/>
              </a:prstGeom>
              <a:noFill/>
            </p:spPr>
            <p:txBody>
              <a:bodyPr wrap="none" rtlCol="0">
                <a:spAutoFit/>
              </a:bodyPr>
              <a:lstStyle/>
              <a:p>
                <a:pPr algn="l"/>
                <a:r>
                  <a:rPr lang="en-IN" sz="900" spc="0" baseline="0">
                    <a:ln/>
                    <a:solidFill>
                      <a:srgbClr val="5F5E5A"/>
                    </a:solidFill>
                    <a:latin typeface="Segoe UI"/>
                    <a:cs typeface="Segoe UI"/>
                    <a:sym typeface="Segoe UI"/>
                    <a:rtl val="0"/>
                  </a:rPr>
                  <a:t>Amazon S3 + OpenSearch</a:t>
                </a:r>
              </a:p>
            </p:txBody>
          </p:sp>
          <p:sp>
            <p:nvSpPr>
              <p:cNvPr id="135" name="TextBox 134">
                <a:extLst>
                  <a:ext uri="{FF2B5EF4-FFF2-40B4-BE49-F238E27FC236}">
                    <a16:creationId xmlns:a16="http://schemas.microsoft.com/office/drawing/2014/main" id="{9A949C26-3A84-8008-88F2-10F46F2EDA2A}"/>
                  </a:ext>
                </a:extLst>
              </p:cNvPr>
              <p:cNvSpPr txBox="1"/>
              <p:nvPr/>
            </p:nvSpPr>
            <p:spPr>
              <a:xfrm>
                <a:off x="3927848" y="3302143"/>
                <a:ext cx="1428596" cy="230832"/>
              </a:xfrm>
              <a:prstGeom prst="rect">
                <a:avLst/>
              </a:prstGeom>
              <a:noFill/>
            </p:spPr>
            <p:txBody>
              <a:bodyPr wrap="none" rtlCol="0">
                <a:spAutoFit/>
              </a:bodyPr>
              <a:lstStyle/>
              <a:p>
                <a:pPr algn="l"/>
                <a:r>
                  <a:rPr lang="en-IN" sz="900" spc="0" baseline="0" dirty="0">
                    <a:ln/>
                    <a:solidFill>
                      <a:srgbClr val="5F5E5A"/>
                    </a:solidFill>
                    <a:latin typeface="Segoe UI"/>
                    <a:cs typeface="Segoe UI"/>
                    <a:sym typeface="Segoe UI"/>
                    <a:rtl val="0"/>
                  </a:rPr>
                  <a:t>Policy &amp; regulatory docs</a:t>
                </a:r>
              </a:p>
            </p:txBody>
          </p:sp>
        </p:grpSp>
        <p:sp>
          <p:nvSpPr>
            <p:cNvPr id="136" name="Freeform: Shape 135">
              <a:extLst>
                <a:ext uri="{FF2B5EF4-FFF2-40B4-BE49-F238E27FC236}">
                  <a16:creationId xmlns:a16="http://schemas.microsoft.com/office/drawing/2014/main" id="{5090891E-2B1D-7B6E-7DB6-BEB36F1BC234}"/>
                </a:ext>
              </a:extLst>
            </p:cNvPr>
            <p:cNvSpPr/>
            <p:nvPr/>
          </p:nvSpPr>
          <p:spPr>
            <a:xfrm>
              <a:off x="4563447" y="2687216"/>
              <a:ext cx="13995" cy="384887"/>
            </a:xfrm>
            <a:custGeom>
              <a:avLst/>
              <a:gdLst>
                <a:gd name="csX0" fmla="*/ 0 w 13995"/>
                <a:gd name="csY0" fmla="*/ 0 h 384887"/>
                <a:gd name="csX1" fmla="*/ 13996 w 13995"/>
                <a:gd name="csY1" fmla="*/ 384888 h 384887"/>
              </a:gdLst>
              <a:ahLst/>
              <a:cxnLst>
                <a:cxn ang="0">
                  <a:pos x="csX0" y="csY0"/>
                </a:cxn>
                <a:cxn ang="0">
                  <a:pos x="csX1" y="csY1"/>
                </a:cxn>
              </a:cxnLst>
              <a:rect l="l" t="t" r="r" b="b"/>
              <a:pathLst>
                <a:path w="13995" h="384887">
                  <a:moveTo>
                    <a:pt x="0" y="0"/>
                  </a:moveTo>
                  <a:lnTo>
                    <a:pt x="13996" y="384888"/>
                  </a:lnTo>
                </a:path>
              </a:pathLst>
            </a:custGeom>
            <a:ln w="6990" cap="flat">
              <a:solidFill>
                <a:srgbClr val="888780">
                  <a:alpha val="50000"/>
                </a:srgbClr>
              </a:solidFill>
              <a:prstDash val="solid"/>
              <a:miter/>
            </a:ln>
          </p:spPr>
        </p:sp>
        <p:grpSp>
          <p:nvGrpSpPr>
            <p:cNvPr id="137" name="Graphic 4">
              <a:extLst>
                <a:ext uri="{FF2B5EF4-FFF2-40B4-BE49-F238E27FC236}">
                  <a16:creationId xmlns:a16="http://schemas.microsoft.com/office/drawing/2014/main" id="{A39499DE-121F-3C78-D31A-F5209BA703AF}"/>
                </a:ext>
              </a:extLst>
            </p:cNvPr>
            <p:cNvGrpSpPr/>
            <p:nvPr/>
          </p:nvGrpSpPr>
          <p:grpSpPr>
            <a:xfrm>
              <a:off x="6790446" y="3058381"/>
              <a:ext cx="845103" cy="460127"/>
              <a:chOff x="6790446" y="3058381"/>
              <a:chExt cx="845103" cy="460127"/>
            </a:xfrm>
          </p:grpSpPr>
          <p:sp>
            <p:nvSpPr>
              <p:cNvPr id="138" name="Rectangle: Rounded Corners 137">
                <a:extLst>
                  <a:ext uri="{FF2B5EF4-FFF2-40B4-BE49-F238E27FC236}">
                    <a16:creationId xmlns:a16="http://schemas.microsoft.com/office/drawing/2014/main" id="{5A0EDE47-3077-C1FB-4222-1DE695EED17F}"/>
                  </a:ext>
                </a:extLst>
              </p:cNvPr>
              <p:cNvSpPr/>
              <p:nvPr/>
            </p:nvSpPr>
            <p:spPr>
              <a:xfrm>
                <a:off x="6865775" y="3079102"/>
                <a:ext cx="699795" cy="433873"/>
              </a:xfrm>
              <a:prstGeom prst="roundRect">
                <a:avLst>
                  <a:gd name="adj" fmla="val 12903"/>
                </a:avLst>
              </a:prstGeom>
              <a:solidFill>
                <a:srgbClr val="F1EFE8"/>
              </a:solidFill>
              <a:ln w="3495" cap="flat">
                <a:solidFill>
                  <a:srgbClr val="5F5E5A"/>
                </a:solidFill>
                <a:prstDash val="solid"/>
                <a:miter/>
              </a:ln>
            </p:spPr>
          </p:sp>
          <p:sp>
            <p:nvSpPr>
              <p:cNvPr id="139" name="TextBox 138">
                <a:extLst>
                  <a:ext uri="{FF2B5EF4-FFF2-40B4-BE49-F238E27FC236}">
                    <a16:creationId xmlns:a16="http://schemas.microsoft.com/office/drawing/2014/main" id="{02CEE0D6-93F5-8BC5-C5FF-A514420BDE0A}"/>
                  </a:ext>
                </a:extLst>
              </p:cNvPr>
              <p:cNvSpPr txBox="1"/>
              <p:nvPr/>
            </p:nvSpPr>
            <p:spPr>
              <a:xfrm>
                <a:off x="6900765" y="3058381"/>
                <a:ext cx="609462" cy="230832"/>
              </a:xfrm>
              <a:prstGeom prst="rect">
                <a:avLst/>
              </a:prstGeom>
              <a:noFill/>
            </p:spPr>
            <p:txBody>
              <a:bodyPr wrap="none" rtlCol="0">
                <a:spAutoFit/>
              </a:bodyPr>
              <a:lstStyle/>
              <a:p>
                <a:pPr algn="l"/>
                <a:r>
                  <a:rPr lang="en-IN" sz="900" spc="0" baseline="0" dirty="0">
                    <a:ln/>
                    <a:solidFill>
                      <a:srgbClr val="444441"/>
                    </a:solidFill>
                    <a:latin typeface="Segoe UI"/>
                    <a:cs typeface="Segoe UI"/>
                    <a:sym typeface="Segoe UI"/>
                    <a:rtl val="0"/>
                  </a:rPr>
                  <a:t>Loan DB</a:t>
                </a:r>
              </a:p>
            </p:txBody>
          </p:sp>
          <p:sp>
            <p:nvSpPr>
              <p:cNvPr id="140" name="TextBox 139">
                <a:extLst>
                  <a:ext uri="{FF2B5EF4-FFF2-40B4-BE49-F238E27FC236}">
                    <a16:creationId xmlns:a16="http://schemas.microsoft.com/office/drawing/2014/main" id="{1CF91D96-BC13-0C8A-0ABD-BF279692AB93}"/>
                  </a:ext>
                </a:extLst>
              </p:cNvPr>
              <p:cNvSpPr txBox="1"/>
              <p:nvPr/>
            </p:nvSpPr>
            <p:spPr>
              <a:xfrm>
                <a:off x="6790446" y="3180694"/>
                <a:ext cx="845103" cy="230832"/>
              </a:xfrm>
              <a:prstGeom prst="rect">
                <a:avLst/>
              </a:prstGeom>
              <a:noFill/>
            </p:spPr>
            <p:txBody>
              <a:bodyPr wrap="none" rtlCol="0">
                <a:spAutoFit/>
              </a:bodyPr>
              <a:lstStyle/>
              <a:p>
                <a:pPr algn="l"/>
                <a:r>
                  <a:rPr lang="en-IN" sz="900" spc="0" baseline="0" dirty="0">
                    <a:ln/>
                    <a:solidFill>
                      <a:srgbClr val="5F5E5A"/>
                    </a:solidFill>
                    <a:latin typeface="Segoe UI"/>
                    <a:cs typeface="Segoe UI"/>
                    <a:sym typeface="Segoe UI"/>
                    <a:rtl val="0"/>
                  </a:rPr>
                  <a:t>Amazon RDS</a:t>
                </a:r>
              </a:p>
            </p:txBody>
          </p:sp>
          <p:sp>
            <p:nvSpPr>
              <p:cNvPr id="141" name="TextBox 140">
                <a:extLst>
                  <a:ext uri="{FF2B5EF4-FFF2-40B4-BE49-F238E27FC236}">
                    <a16:creationId xmlns:a16="http://schemas.microsoft.com/office/drawing/2014/main" id="{4860CF77-000B-261F-D618-BDACA18D2475}"/>
                  </a:ext>
                </a:extLst>
              </p:cNvPr>
              <p:cNvSpPr txBox="1"/>
              <p:nvPr/>
            </p:nvSpPr>
            <p:spPr>
              <a:xfrm>
                <a:off x="6945981" y="3287676"/>
                <a:ext cx="591829" cy="230832"/>
              </a:xfrm>
              <a:prstGeom prst="rect">
                <a:avLst/>
              </a:prstGeom>
              <a:noFill/>
            </p:spPr>
            <p:txBody>
              <a:bodyPr wrap="none" rtlCol="0">
                <a:spAutoFit/>
              </a:bodyPr>
              <a:lstStyle/>
              <a:p>
                <a:pPr algn="l"/>
                <a:r>
                  <a:rPr lang="en-IN" sz="900" spc="0" baseline="0" dirty="0">
                    <a:ln/>
                    <a:solidFill>
                      <a:srgbClr val="5F5E5A"/>
                    </a:solidFill>
                    <a:latin typeface="Segoe UI"/>
                    <a:cs typeface="Segoe UI"/>
                    <a:sym typeface="Segoe UI"/>
                    <a:rtl val="0"/>
                  </a:rPr>
                  <a:t>Records</a:t>
                </a:r>
              </a:p>
            </p:txBody>
          </p:sp>
        </p:grpSp>
        <p:grpSp>
          <p:nvGrpSpPr>
            <p:cNvPr id="142" name="Graphic 4">
              <a:extLst>
                <a:ext uri="{FF2B5EF4-FFF2-40B4-BE49-F238E27FC236}">
                  <a16:creationId xmlns:a16="http://schemas.microsoft.com/office/drawing/2014/main" id="{9F5651EF-440E-5F3A-69D6-C830D9AE33E4}"/>
                </a:ext>
              </a:extLst>
            </p:cNvPr>
            <p:cNvGrpSpPr/>
            <p:nvPr/>
          </p:nvGrpSpPr>
          <p:grpSpPr>
            <a:xfrm>
              <a:off x="7590822" y="3053624"/>
              <a:ext cx="881973" cy="473419"/>
              <a:chOff x="7590822" y="3053624"/>
              <a:chExt cx="881973" cy="473419"/>
            </a:xfrm>
          </p:grpSpPr>
          <p:sp>
            <p:nvSpPr>
              <p:cNvPr id="143" name="Rectangle: Rounded Corners 142">
                <a:extLst>
                  <a:ext uri="{FF2B5EF4-FFF2-40B4-BE49-F238E27FC236}">
                    <a16:creationId xmlns:a16="http://schemas.microsoft.com/office/drawing/2014/main" id="{3A227334-52E2-0933-0F0E-B8ED8205B334}"/>
                  </a:ext>
                </a:extLst>
              </p:cNvPr>
              <p:cNvSpPr/>
              <p:nvPr/>
            </p:nvSpPr>
            <p:spPr>
              <a:xfrm>
                <a:off x="7663542" y="3079102"/>
                <a:ext cx="699795" cy="433873"/>
              </a:xfrm>
              <a:prstGeom prst="roundRect">
                <a:avLst>
                  <a:gd name="adj" fmla="val 12903"/>
                </a:avLst>
              </a:prstGeom>
              <a:solidFill>
                <a:srgbClr val="F1EFE8"/>
              </a:solidFill>
              <a:ln w="3495" cap="flat">
                <a:solidFill>
                  <a:srgbClr val="5F5E5A"/>
                </a:solidFill>
                <a:prstDash val="solid"/>
                <a:miter/>
              </a:ln>
            </p:spPr>
          </p:sp>
          <p:sp>
            <p:nvSpPr>
              <p:cNvPr id="144" name="TextBox 143">
                <a:extLst>
                  <a:ext uri="{FF2B5EF4-FFF2-40B4-BE49-F238E27FC236}">
                    <a16:creationId xmlns:a16="http://schemas.microsoft.com/office/drawing/2014/main" id="{832EF5B3-7BC9-AA94-A93C-DE570F961D65}"/>
                  </a:ext>
                </a:extLst>
              </p:cNvPr>
              <p:cNvSpPr txBox="1"/>
              <p:nvPr/>
            </p:nvSpPr>
            <p:spPr>
              <a:xfrm>
                <a:off x="7590822" y="3053624"/>
                <a:ext cx="881973" cy="230832"/>
              </a:xfrm>
              <a:prstGeom prst="rect">
                <a:avLst/>
              </a:prstGeom>
              <a:noFill/>
            </p:spPr>
            <p:txBody>
              <a:bodyPr wrap="none" rtlCol="0">
                <a:spAutoFit/>
              </a:bodyPr>
              <a:lstStyle/>
              <a:p>
                <a:pPr algn="l"/>
                <a:r>
                  <a:rPr lang="en-IN" sz="900" spc="0" baseline="0" dirty="0">
                    <a:ln/>
                    <a:solidFill>
                      <a:srgbClr val="444441"/>
                    </a:solidFill>
                    <a:latin typeface="Segoe UI"/>
                    <a:cs typeface="Segoe UI"/>
                    <a:sym typeface="Segoe UI"/>
                    <a:rtl val="0"/>
                  </a:rPr>
                  <a:t>Credit bureau</a:t>
                </a:r>
              </a:p>
            </p:txBody>
          </p:sp>
          <p:sp>
            <p:nvSpPr>
              <p:cNvPr id="145" name="TextBox 144">
                <a:extLst>
                  <a:ext uri="{FF2B5EF4-FFF2-40B4-BE49-F238E27FC236}">
                    <a16:creationId xmlns:a16="http://schemas.microsoft.com/office/drawing/2014/main" id="{6E3D5831-A8F6-81CD-A86C-0B21BF2F8701}"/>
                  </a:ext>
                </a:extLst>
              </p:cNvPr>
              <p:cNvSpPr txBox="1"/>
              <p:nvPr/>
            </p:nvSpPr>
            <p:spPr>
              <a:xfrm>
                <a:off x="7621280" y="3180694"/>
                <a:ext cx="821059" cy="230832"/>
              </a:xfrm>
              <a:prstGeom prst="rect">
                <a:avLst/>
              </a:prstGeom>
              <a:noFill/>
            </p:spPr>
            <p:txBody>
              <a:bodyPr wrap="none" rtlCol="0">
                <a:spAutoFit/>
              </a:bodyPr>
              <a:lstStyle/>
              <a:p>
                <a:pPr algn="l"/>
                <a:r>
                  <a:rPr lang="en-IN" sz="900" spc="0" baseline="0" dirty="0">
                    <a:ln/>
                    <a:solidFill>
                      <a:srgbClr val="5F5E5A"/>
                    </a:solidFill>
                    <a:latin typeface="Segoe UI"/>
                    <a:cs typeface="Segoe UI"/>
                    <a:sym typeface="Segoe UI"/>
                    <a:rtl val="0"/>
                  </a:rPr>
                  <a:t>API Gateway</a:t>
                </a:r>
              </a:p>
            </p:txBody>
          </p:sp>
          <p:sp>
            <p:nvSpPr>
              <p:cNvPr id="146" name="TextBox 145">
                <a:extLst>
                  <a:ext uri="{FF2B5EF4-FFF2-40B4-BE49-F238E27FC236}">
                    <a16:creationId xmlns:a16="http://schemas.microsoft.com/office/drawing/2014/main" id="{D2DA08A2-253F-EE13-CEEC-80E67E971B7E}"/>
                  </a:ext>
                </a:extLst>
              </p:cNvPr>
              <p:cNvSpPr txBox="1"/>
              <p:nvPr/>
            </p:nvSpPr>
            <p:spPr>
              <a:xfrm>
                <a:off x="7626483" y="3296211"/>
                <a:ext cx="837089" cy="230832"/>
              </a:xfrm>
              <a:prstGeom prst="rect">
                <a:avLst/>
              </a:prstGeom>
              <a:noFill/>
            </p:spPr>
            <p:txBody>
              <a:bodyPr wrap="none" rtlCol="0">
                <a:spAutoFit/>
              </a:bodyPr>
              <a:lstStyle/>
              <a:p>
                <a:pPr algn="l"/>
                <a:r>
                  <a:rPr lang="en-IN" sz="900" spc="0" baseline="0" dirty="0">
                    <a:ln/>
                    <a:solidFill>
                      <a:srgbClr val="5F5E5A"/>
                    </a:solidFill>
                    <a:latin typeface="Segoe UI"/>
                    <a:cs typeface="Segoe UI"/>
                    <a:sym typeface="Segoe UI"/>
                    <a:rtl val="0"/>
                  </a:rPr>
                  <a:t>External APIs</a:t>
                </a:r>
              </a:p>
            </p:txBody>
          </p:sp>
        </p:grpSp>
        <p:sp>
          <p:nvSpPr>
            <p:cNvPr id="147" name="Freeform: Shape 146">
              <a:extLst>
                <a:ext uri="{FF2B5EF4-FFF2-40B4-BE49-F238E27FC236}">
                  <a16:creationId xmlns:a16="http://schemas.microsoft.com/office/drawing/2014/main" id="{A2C4E6AE-4C3D-E442-4B8F-DB9D0194A57A}"/>
                </a:ext>
              </a:extLst>
            </p:cNvPr>
            <p:cNvSpPr/>
            <p:nvPr/>
          </p:nvSpPr>
          <p:spPr>
            <a:xfrm>
              <a:off x="7250663" y="2687216"/>
              <a:ext cx="104969" cy="384887"/>
            </a:xfrm>
            <a:custGeom>
              <a:avLst/>
              <a:gdLst>
                <a:gd name="csX0" fmla="*/ 104969 w 104969"/>
                <a:gd name="csY0" fmla="*/ 0 h 384887"/>
                <a:gd name="csX1" fmla="*/ 0 w 104969"/>
                <a:gd name="csY1" fmla="*/ 384888 h 384887"/>
              </a:gdLst>
              <a:ahLst/>
              <a:cxnLst>
                <a:cxn ang="0">
                  <a:pos x="csX0" y="csY0"/>
                </a:cxn>
                <a:cxn ang="0">
                  <a:pos x="csX1" y="csY1"/>
                </a:cxn>
              </a:cxnLst>
              <a:rect l="l" t="t" r="r" b="b"/>
              <a:pathLst>
                <a:path w="104969" h="384887">
                  <a:moveTo>
                    <a:pt x="104969" y="0"/>
                  </a:moveTo>
                  <a:lnTo>
                    <a:pt x="0" y="384888"/>
                  </a:lnTo>
                </a:path>
              </a:pathLst>
            </a:custGeom>
            <a:ln w="6990" cap="flat">
              <a:solidFill>
                <a:srgbClr val="888780">
                  <a:alpha val="45000"/>
                </a:srgbClr>
              </a:solidFill>
              <a:prstDash val="solid"/>
              <a:miter/>
            </a:ln>
          </p:spPr>
        </p:sp>
        <p:sp>
          <p:nvSpPr>
            <p:cNvPr id="148" name="Freeform: Shape 147">
              <a:extLst>
                <a:ext uri="{FF2B5EF4-FFF2-40B4-BE49-F238E27FC236}">
                  <a16:creationId xmlns:a16="http://schemas.microsoft.com/office/drawing/2014/main" id="{AAFC5670-288B-2993-8181-314BB27D375B}"/>
                </a:ext>
              </a:extLst>
            </p:cNvPr>
            <p:cNvSpPr/>
            <p:nvPr/>
          </p:nvSpPr>
          <p:spPr>
            <a:xfrm>
              <a:off x="7915469" y="2687216"/>
              <a:ext cx="97971" cy="384887"/>
            </a:xfrm>
            <a:custGeom>
              <a:avLst/>
              <a:gdLst>
                <a:gd name="csX0" fmla="*/ 0 w 97971"/>
                <a:gd name="csY0" fmla="*/ 0 h 384887"/>
                <a:gd name="csX1" fmla="*/ 97971 w 97971"/>
                <a:gd name="csY1" fmla="*/ 384888 h 384887"/>
              </a:gdLst>
              <a:ahLst/>
              <a:cxnLst>
                <a:cxn ang="0">
                  <a:pos x="csX0" y="csY0"/>
                </a:cxn>
                <a:cxn ang="0">
                  <a:pos x="csX1" y="csY1"/>
                </a:cxn>
              </a:cxnLst>
              <a:rect l="l" t="t" r="r" b="b"/>
              <a:pathLst>
                <a:path w="97971" h="384887">
                  <a:moveTo>
                    <a:pt x="0" y="0"/>
                  </a:moveTo>
                  <a:lnTo>
                    <a:pt x="97971" y="384888"/>
                  </a:lnTo>
                </a:path>
              </a:pathLst>
            </a:custGeom>
            <a:ln w="6990" cap="flat">
              <a:solidFill>
                <a:srgbClr val="888780">
                  <a:alpha val="45000"/>
                </a:srgbClr>
              </a:solidFill>
              <a:prstDash val="solid"/>
              <a:miter/>
            </a:ln>
          </p:spPr>
        </p:sp>
        <p:grpSp>
          <p:nvGrpSpPr>
            <p:cNvPr id="149" name="Graphic 4">
              <a:extLst>
                <a:ext uri="{FF2B5EF4-FFF2-40B4-BE49-F238E27FC236}">
                  <a16:creationId xmlns:a16="http://schemas.microsoft.com/office/drawing/2014/main" id="{4C091852-A4B2-B00D-F39C-17918C51E90F}"/>
                </a:ext>
              </a:extLst>
            </p:cNvPr>
            <p:cNvGrpSpPr/>
            <p:nvPr/>
          </p:nvGrpSpPr>
          <p:grpSpPr>
            <a:xfrm>
              <a:off x="3828661" y="4005346"/>
              <a:ext cx="1469571" cy="529330"/>
              <a:chOff x="3828661" y="4005346"/>
              <a:chExt cx="1469571" cy="529330"/>
            </a:xfrm>
          </p:grpSpPr>
          <p:sp>
            <p:nvSpPr>
              <p:cNvPr id="150" name="Rectangle: Rounded Corners 149">
                <a:extLst>
                  <a:ext uri="{FF2B5EF4-FFF2-40B4-BE49-F238E27FC236}">
                    <a16:creationId xmlns:a16="http://schemas.microsoft.com/office/drawing/2014/main" id="{9FFEBE33-8E79-550A-2180-9551FFDDD87A}"/>
                  </a:ext>
                </a:extLst>
              </p:cNvPr>
              <p:cNvSpPr/>
              <p:nvPr/>
            </p:nvSpPr>
            <p:spPr>
              <a:xfrm>
                <a:off x="3828661" y="4016828"/>
                <a:ext cx="1469571" cy="517848"/>
              </a:xfrm>
              <a:prstGeom prst="roundRect">
                <a:avLst>
                  <a:gd name="adj" fmla="val 10810"/>
                </a:avLst>
              </a:prstGeom>
              <a:solidFill>
                <a:srgbClr val="FAEEDA"/>
              </a:solidFill>
              <a:ln w="3495" cap="flat">
                <a:solidFill>
                  <a:srgbClr val="854F0B"/>
                </a:solidFill>
                <a:prstDash val="solid"/>
                <a:miter/>
              </a:ln>
            </p:spPr>
          </p:sp>
          <p:sp>
            <p:nvSpPr>
              <p:cNvPr id="151" name="TextBox 150">
                <a:extLst>
                  <a:ext uri="{FF2B5EF4-FFF2-40B4-BE49-F238E27FC236}">
                    <a16:creationId xmlns:a16="http://schemas.microsoft.com/office/drawing/2014/main" id="{96C23C98-5762-2BF0-1EBF-F5FA0B3CF09D}"/>
                  </a:ext>
                </a:extLst>
              </p:cNvPr>
              <p:cNvSpPr txBox="1"/>
              <p:nvPr/>
            </p:nvSpPr>
            <p:spPr>
              <a:xfrm>
                <a:off x="4148600" y="4005346"/>
                <a:ext cx="947695" cy="230832"/>
              </a:xfrm>
              <a:prstGeom prst="rect">
                <a:avLst/>
              </a:prstGeom>
              <a:noFill/>
            </p:spPr>
            <p:txBody>
              <a:bodyPr wrap="none" rtlCol="0">
                <a:spAutoFit/>
              </a:bodyPr>
              <a:lstStyle/>
              <a:p>
                <a:pPr algn="l"/>
                <a:r>
                  <a:rPr lang="en-IN" sz="900" spc="0" baseline="0">
                    <a:ln/>
                    <a:solidFill>
                      <a:srgbClr val="633806"/>
                    </a:solidFill>
                    <a:latin typeface="Segoe UI"/>
                    <a:cs typeface="Segoe UI"/>
                    <a:sym typeface="Segoe UI"/>
                    <a:rtl val="0"/>
                  </a:rPr>
                  <a:t>Intent classifier</a:t>
                </a:r>
              </a:p>
            </p:txBody>
          </p:sp>
          <p:sp>
            <p:nvSpPr>
              <p:cNvPr id="152" name="TextBox 151">
                <a:extLst>
                  <a:ext uri="{FF2B5EF4-FFF2-40B4-BE49-F238E27FC236}">
                    <a16:creationId xmlns:a16="http://schemas.microsoft.com/office/drawing/2014/main" id="{9B9B845C-EA7B-EE01-8A21-F986A3F28D5F}"/>
                  </a:ext>
                </a:extLst>
              </p:cNvPr>
              <p:cNvSpPr txBox="1"/>
              <p:nvPr/>
            </p:nvSpPr>
            <p:spPr>
              <a:xfrm>
                <a:off x="3971467" y="4146001"/>
                <a:ext cx="1301959" cy="230832"/>
              </a:xfrm>
              <a:prstGeom prst="rect">
                <a:avLst/>
              </a:prstGeom>
              <a:noFill/>
            </p:spPr>
            <p:txBody>
              <a:bodyPr wrap="none" rtlCol="0">
                <a:spAutoFit/>
              </a:bodyPr>
              <a:lstStyle/>
              <a:p>
                <a:pPr algn="l"/>
                <a:r>
                  <a:rPr lang="en-IN" sz="900" spc="0" baseline="0" dirty="0">
                    <a:ln/>
                    <a:solidFill>
                      <a:srgbClr val="854F0B"/>
                    </a:solidFill>
                    <a:latin typeface="Segoe UI"/>
                    <a:cs typeface="Segoe UI"/>
                    <a:sym typeface="Segoe UI"/>
                    <a:rtl val="0"/>
                  </a:rPr>
                  <a:t>Amazon Comprehend</a:t>
                </a:r>
              </a:p>
            </p:txBody>
          </p:sp>
          <p:sp>
            <p:nvSpPr>
              <p:cNvPr id="153" name="TextBox 152">
                <a:extLst>
                  <a:ext uri="{FF2B5EF4-FFF2-40B4-BE49-F238E27FC236}">
                    <a16:creationId xmlns:a16="http://schemas.microsoft.com/office/drawing/2014/main" id="{7FBEC361-2B24-39C4-3247-E6130DEFC83C}"/>
                  </a:ext>
                </a:extLst>
              </p:cNvPr>
              <p:cNvSpPr txBox="1"/>
              <p:nvPr/>
            </p:nvSpPr>
            <p:spPr>
              <a:xfrm>
                <a:off x="4131324" y="4281694"/>
                <a:ext cx="976549" cy="230832"/>
              </a:xfrm>
              <a:prstGeom prst="rect">
                <a:avLst/>
              </a:prstGeom>
              <a:noFill/>
            </p:spPr>
            <p:txBody>
              <a:bodyPr wrap="none" rtlCol="0">
                <a:spAutoFit/>
              </a:bodyPr>
              <a:lstStyle/>
              <a:p>
                <a:pPr algn="l"/>
                <a:r>
                  <a:rPr lang="en-IN" sz="900" spc="0" baseline="0" dirty="0">
                    <a:ln/>
                    <a:solidFill>
                      <a:srgbClr val="854F0B"/>
                    </a:solidFill>
                    <a:latin typeface="Segoe UI"/>
                    <a:cs typeface="Segoe UI"/>
                    <a:sym typeface="Segoe UI"/>
                    <a:rtl val="0"/>
                  </a:rPr>
                  <a:t>+ AWS Lambda</a:t>
                </a:r>
              </a:p>
            </p:txBody>
          </p:sp>
        </p:grpSp>
        <p:grpSp>
          <p:nvGrpSpPr>
            <p:cNvPr id="154" name="Graphic 4">
              <a:extLst>
                <a:ext uri="{FF2B5EF4-FFF2-40B4-BE49-F238E27FC236}">
                  <a16:creationId xmlns:a16="http://schemas.microsoft.com/office/drawing/2014/main" id="{52E80AF5-FDF3-BAB9-8A23-11CD76A203A6}"/>
                </a:ext>
              </a:extLst>
            </p:cNvPr>
            <p:cNvGrpSpPr/>
            <p:nvPr/>
          </p:nvGrpSpPr>
          <p:grpSpPr>
            <a:xfrm>
              <a:off x="6893767" y="4005346"/>
              <a:ext cx="1482166" cy="529330"/>
              <a:chOff x="6893767" y="4005346"/>
              <a:chExt cx="1482166" cy="529330"/>
            </a:xfrm>
          </p:grpSpPr>
          <p:sp>
            <p:nvSpPr>
              <p:cNvPr id="155" name="Rectangle: Rounded Corners 154">
                <a:extLst>
                  <a:ext uri="{FF2B5EF4-FFF2-40B4-BE49-F238E27FC236}">
                    <a16:creationId xmlns:a16="http://schemas.microsoft.com/office/drawing/2014/main" id="{7473C8CA-758A-3DFA-C430-57CD5F9044D0}"/>
                  </a:ext>
                </a:extLst>
              </p:cNvPr>
              <p:cNvSpPr/>
              <p:nvPr/>
            </p:nvSpPr>
            <p:spPr>
              <a:xfrm>
                <a:off x="6893767" y="4016828"/>
                <a:ext cx="1469571" cy="517848"/>
              </a:xfrm>
              <a:prstGeom prst="roundRect">
                <a:avLst>
                  <a:gd name="adj" fmla="val 10810"/>
                </a:avLst>
              </a:prstGeom>
              <a:solidFill>
                <a:srgbClr val="FAEEDA"/>
              </a:solidFill>
              <a:ln w="3495" cap="flat">
                <a:solidFill>
                  <a:srgbClr val="854F0B"/>
                </a:solidFill>
                <a:prstDash val="solid"/>
                <a:miter/>
              </a:ln>
            </p:spPr>
          </p:sp>
          <p:sp>
            <p:nvSpPr>
              <p:cNvPr id="156" name="TextBox 155">
                <a:extLst>
                  <a:ext uri="{FF2B5EF4-FFF2-40B4-BE49-F238E27FC236}">
                    <a16:creationId xmlns:a16="http://schemas.microsoft.com/office/drawing/2014/main" id="{610B99FC-543E-6639-7784-D425B29E2CE8}"/>
                  </a:ext>
                </a:extLst>
              </p:cNvPr>
              <p:cNvSpPr txBox="1"/>
              <p:nvPr/>
            </p:nvSpPr>
            <p:spPr>
              <a:xfrm>
                <a:off x="7164553" y="4005346"/>
                <a:ext cx="1077539" cy="230832"/>
              </a:xfrm>
              <a:prstGeom prst="rect">
                <a:avLst/>
              </a:prstGeom>
              <a:noFill/>
            </p:spPr>
            <p:txBody>
              <a:bodyPr wrap="none" rtlCol="0">
                <a:spAutoFit/>
              </a:bodyPr>
              <a:lstStyle/>
              <a:p>
                <a:pPr algn="l"/>
                <a:r>
                  <a:rPr lang="en-IN" sz="900" spc="0" baseline="0">
                    <a:ln/>
                    <a:solidFill>
                      <a:srgbClr val="633806"/>
                    </a:solidFill>
                    <a:latin typeface="Segoe UI"/>
                    <a:cs typeface="Segoe UI"/>
                    <a:sym typeface="Segoe UI"/>
                    <a:rtl val="0"/>
                  </a:rPr>
                  <a:t>Task decomposer</a:t>
                </a:r>
              </a:p>
            </p:txBody>
          </p:sp>
          <p:sp>
            <p:nvSpPr>
              <p:cNvPr id="157" name="TextBox 156">
                <a:extLst>
                  <a:ext uri="{FF2B5EF4-FFF2-40B4-BE49-F238E27FC236}">
                    <a16:creationId xmlns:a16="http://schemas.microsoft.com/office/drawing/2014/main" id="{206BB8FC-C04A-E6D8-3D77-E8EF7CFBD8FA}"/>
                  </a:ext>
                </a:extLst>
              </p:cNvPr>
              <p:cNvSpPr txBox="1"/>
              <p:nvPr/>
            </p:nvSpPr>
            <p:spPr>
              <a:xfrm>
                <a:off x="7168551" y="4146412"/>
                <a:ext cx="1207382" cy="230832"/>
              </a:xfrm>
              <a:prstGeom prst="rect">
                <a:avLst/>
              </a:prstGeom>
              <a:noFill/>
            </p:spPr>
            <p:txBody>
              <a:bodyPr wrap="none" rtlCol="0">
                <a:spAutoFit/>
              </a:bodyPr>
              <a:lstStyle/>
              <a:p>
                <a:pPr algn="l"/>
                <a:r>
                  <a:rPr lang="en-IN" sz="900" spc="0" baseline="0">
                    <a:ln/>
                    <a:solidFill>
                      <a:srgbClr val="854F0B"/>
                    </a:solidFill>
                    <a:latin typeface="Segoe UI"/>
                    <a:cs typeface="Segoe UI"/>
                    <a:sym typeface="Segoe UI"/>
                    <a:rtl val="0"/>
                  </a:rPr>
                  <a:t>AWS Step Functions</a:t>
                </a:r>
              </a:p>
            </p:txBody>
          </p:sp>
          <p:sp>
            <p:nvSpPr>
              <p:cNvPr id="158" name="TextBox 157">
                <a:extLst>
                  <a:ext uri="{FF2B5EF4-FFF2-40B4-BE49-F238E27FC236}">
                    <a16:creationId xmlns:a16="http://schemas.microsoft.com/office/drawing/2014/main" id="{7A394EF1-9645-ABC2-E445-C3E19CC6B9D3}"/>
                  </a:ext>
                </a:extLst>
              </p:cNvPr>
              <p:cNvSpPr txBox="1"/>
              <p:nvPr/>
            </p:nvSpPr>
            <p:spPr>
              <a:xfrm>
                <a:off x="7251583" y="4258380"/>
                <a:ext cx="976549" cy="230832"/>
              </a:xfrm>
              <a:prstGeom prst="rect">
                <a:avLst/>
              </a:prstGeom>
              <a:noFill/>
            </p:spPr>
            <p:txBody>
              <a:bodyPr wrap="none" rtlCol="0">
                <a:spAutoFit/>
              </a:bodyPr>
              <a:lstStyle/>
              <a:p>
                <a:pPr algn="l"/>
                <a:r>
                  <a:rPr lang="en-IN" sz="900" spc="0" baseline="0">
                    <a:ln/>
                    <a:solidFill>
                      <a:srgbClr val="854F0B"/>
                    </a:solidFill>
                    <a:latin typeface="Segoe UI"/>
                    <a:cs typeface="Segoe UI"/>
                    <a:sym typeface="Segoe UI"/>
                    <a:rtl val="0"/>
                  </a:rPr>
                  <a:t>+ AWS Lambda</a:t>
                </a:r>
              </a:p>
            </p:txBody>
          </p:sp>
        </p:grpSp>
        <p:sp>
          <p:nvSpPr>
            <p:cNvPr id="159" name="Freeform: Shape 158">
              <a:extLst>
                <a:ext uri="{FF2B5EF4-FFF2-40B4-BE49-F238E27FC236}">
                  <a16:creationId xmlns:a16="http://schemas.microsoft.com/office/drawing/2014/main" id="{23DBB8D7-A0EB-9EF6-2095-5A47A1EEB9BB}"/>
                </a:ext>
              </a:extLst>
            </p:cNvPr>
            <p:cNvSpPr/>
            <p:nvPr/>
          </p:nvSpPr>
          <p:spPr>
            <a:xfrm>
              <a:off x="3626453" y="1595534"/>
              <a:ext cx="1559811" cy="2447642"/>
            </a:xfrm>
            <a:custGeom>
              <a:avLst/>
              <a:gdLst>
                <a:gd name="csX0" fmla="*/ 622818 w 622818"/>
                <a:gd name="csY0" fmla="*/ 0 h 2414295"/>
                <a:gd name="csX1" fmla="*/ 0 w 622818"/>
                <a:gd name="csY1" fmla="*/ 0 h 2414295"/>
                <a:gd name="csX2" fmla="*/ 0 w 622818"/>
                <a:gd name="csY2" fmla="*/ 2414296 h 2414295"/>
                <a:gd name="csX0" fmla="*/ 1045299 w 1045299"/>
                <a:gd name="csY0" fmla="*/ 0 h 2014246"/>
                <a:gd name="csX1" fmla="*/ 422481 w 1045299"/>
                <a:gd name="csY1" fmla="*/ 0 h 2014246"/>
                <a:gd name="csX2" fmla="*/ 0 w 1045299"/>
                <a:gd name="csY2" fmla="*/ 2014246 h 2014246"/>
                <a:gd name="csX0" fmla="*/ 622818 w 895307"/>
                <a:gd name="csY0" fmla="*/ 0 h 1718971"/>
                <a:gd name="csX1" fmla="*/ 0 w 895307"/>
                <a:gd name="csY1" fmla="*/ 0 h 1718971"/>
                <a:gd name="csX2" fmla="*/ 895307 w 895307"/>
                <a:gd name="csY2" fmla="*/ 1718971 h 1718971"/>
                <a:gd name="csX0" fmla="*/ 1137 w 273626"/>
                <a:gd name="csY0" fmla="*/ 0 h 1718971"/>
                <a:gd name="csX1" fmla="*/ 0 w 273626"/>
                <a:gd name="csY1" fmla="*/ 304800 h 1718971"/>
                <a:gd name="csX2" fmla="*/ 273626 w 273626"/>
                <a:gd name="csY2" fmla="*/ 1718971 h 1718971"/>
                <a:gd name="csX0" fmla="*/ 1137 w 273626"/>
                <a:gd name="csY0" fmla="*/ 0 h 1718971"/>
                <a:gd name="csX1" fmla="*/ 0 w 273626"/>
                <a:gd name="csY1" fmla="*/ 304800 h 1718971"/>
                <a:gd name="csX2" fmla="*/ 273626 w 273626"/>
                <a:gd name="csY2" fmla="*/ 1718971 h 1718971"/>
                <a:gd name="csX0" fmla="*/ 1137 w 188255"/>
                <a:gd name="csY0" fmla="*/ 0 h 1647533"/>
                <a:gd name="csX1" fmla="*/ 0 w 188255"/>
                <a:gd name="csY1" fmla="*/ 304800 h 1647533"/>
                <a:gd name="csX2" fmla="*/ 188254 w 188255"/>
                <a:gd name="csY2" fmla="*/ 1647533 h 1647533"/>
                <a:gd name="csX0" fmla="*/ 710378 w 897495"/>
                <a:gd name="csY0" fmla="*/ 0 h 1647533"/>
                <a:gd name="csX1" fmla="*/ 0 w 897495"/>
                <a:gd name="csY1" fmla="*/ 261938 h 1647533"/>
                <a:gd name="csX2" fmla="*/ 897495 w 897495"/>
                <a:gd name="csY2" fmla="*/ 1647533 h 1647533"/>
                <a:gd name="csX0" fmla="*/ 730081 w 730081"/>
                <a:gd name="csY0" fmla="*/ 0 h 2666708"/>
                <a:gd name="csX1" fmla="*/ 19703 w 730081"/>
                <a:gd name="csY1" fmla="*/ 261938 h 2666708"/>
                <a:gd name="csX2" fmla="*/ 0 w 730081"/>
                <a:gd name="csY2" fmla="*/ 2666708 h 2666708"/>
                <a:gd name="csX0" fmla="*/ 730081 w 730081"/>
                <a:gd name="csY0" fmla="*/ 0 h 2666708"/>
                <a:gd name="csX1" fmla="*/ 13136 w 730081"/>
                <a:gd name="csY1" fmla="*/ 0 h 2666708"/>
                <a:gd name="csX2" fmla="*/ 0 w 730081"/>
                <a:gd name="csY2" fmla="*/ 2666708 h 2666708"/>
                <a:gd name="csX0" fmla="*/ 730081 w 730081"/>
                <a:gd name="csY0" fmla="*/ 0 h 2666708"/>
                <a:gd name="csX1" fmla="*/ 13136 w 730081"/>
                <a:gd name="csY1" fmla="*/ 0 h 2666708"/>
                <a:gd name="csX2" fmla="*/ 0 w 730081"/>
                <a:gd name="csY2" fmla="*/ 2666708 h 2666708"/>
                <a:gd name="csX0" fmla="*/ 730081 w 730081"/>
                <a:gd name="csY0" fmla="*/ 0 h 2661945"/>
                <a:gd name="csX1" fmla="*/ 13136 w 730081"/>
                <a:gd name="csY1" fmla="*/ 0 h 2661945"/>
                <a:gd name="csX2" fmla="*/ 0 w 730081"/>
                <a:gd name="csY2" fmla="*/ 2661945 h 2661945"/>
                <a:gd name="csX0" fmla="*/ 730081 w 730081"/>
                <a:gd name="csY0" fmla="*/ 0 h 2661954"/>
                <a:gd name="csX1" fmla="*/ 13136 w 730081"/>
                <a:gd name="csY1" fmla="*/ 0 h 2661954"/>
                <a:gd name="csX2" fmla="*/ 0 w 730081"/>
                <a:gd name="csY2" fmla="*/ 2661945 h 2661954"/>
                <a:gd name="csX0" fmla="*/ 716945 w 716945"/>
                <a:gd name="csY0" fmla="*/ 0 h 2447642"/>
                <a:gd name="csX1" fmla="*/ 0 w 716945"/>
                <a:gd name="csY1" fmla="*/ 0 h 2447642"/>
                <a:gd name="csX2" fmla="*/ 94126 w 716945"/>
                <a:gd name="csY2" fmla="*/ 2447632 h 2447642"/>
              </a:gdLst>
              <a:ahLst/>
              <a:cxnLst>
                <a:cxn ang="0">
                  <a:pos x="csX0" y="csY0"/>
                </a:cxn>
                <a:cxn ang="0">
                  <a:pos x="csX1" y="csY1"/>
                </a:cxn>
                <a:cxn ang="0">
                  <a:pos x="csX2" y="csY2"/>
                </a:cxn>
              </a:cxnLst>
              <a:rect l="l" t="t" r="r" b="b"/>
              <a:pathLst>
                <a:path w="716945" h="2447642">
                  <a:moveTo>
                    <a:pt x="716945" y="0"/>
                  </a:moveTo>
                  <a:lnTo>
                    <a:pt x="0" y="0"/>
                  </a:lnTo>
                  <a:cubicBezTo>
                    <a:pt x="6567" y="738091"/>
                    <a:pt x="100693" y="2452492"/>
                    <a:pt x="94126" y="2447632"/>
                  </a:cubicBezTo>
                </a:path>
              </a:pathLst>
            </a:custGeom>
            <a:noFill/>
            <a:ln w="6990" cap="flat">
              <a:solidFill>
                <a:srgbClr val="BA7517">
                  <a:alpha val="50000"/>
                </a:srgbClr>
              </a:solidFill>
              <a:prstDash val="solid"/>
              <a:miter/>
            </a:ln>
          </p:spPr>
        </p:sp>
        <p:sp>
          <p:nvSpPr>
            <p:cNvPr id="161" name="Freeform: Shape 160">
              <a:extLst>
                <a:ext uri="{FF2B5EF4-FFF2-40B4-BE49-F238E27FC236}">
                  <a16:creationId xmlns:a16="http://schemas.microsoft.com/office/drawing/2014/main" id="{2AEA49D7-9D6A-9D59-62AE-0EA73D34DAB4}"/>
                </a:ext>
              </a:extLst>
            </p:cNvPr>
            <p:cNvSpPr/>
            <p:nvPr/>
          </p:nvSpPr>
          <p:spPr>
            <a:xfrm>
              <a:off x="5298232" y="4275753"/>
              <a:ext cx="1588536" cy="6997"/>
            </a:xfrm>
            <a:custGeom>
              <a:avLst/>
              <a:gdLst>
                <a:gd name="csX0" fmla="*/ 0 w 1588536"/>
                <a:gd name="csY0" fmla="*/ 0 h 6997"/>
                <a:gd name="csX1" fmla="*/ 1588537 w 1588536"/>
                <a:gd name="csY1" fmla="*/ 0 h 6997"/>
              </a:gdLst>
              <a:ahLst/>
              <a:cxnLst>
                <a:cxn ang="0">
                  <a:pos x="csX0" y="csY0"/>
                </a:cxn>
                <a:cxn ang="0">
                  <a:pos x="csX1" y="csY1"/>
                </a:cxn>
              </a:cxnLst>
              <a:rect l="l" t="t" r="r" b="b"/>
              <a:pathLst>
                <a:path w="1588536" h="6997">
                  <a:moveTo>
                    <a:pt x="0" y="0"/>
                  </a:moveTo>
                  <a:lnTo>
                    <a:pt x="1588537" y="0"/>
                  </a:lnTo>
                </a:path>
              </a:pathLst>
            </a:custGeom>
            <a:ln w="6990" cap="flat">
              <a:solidFill>
                <a:srgbClr val="BA7517">
                  <a:alpha val="50000"/>
                </a:srgbClr>
              </a:solidFill>
              <a:prstDash val="solid"/>
              <a:miter/>
            </a:ln>
          </p:spPr>
        </p:sp>
        <p:grpSp>
          <p:nvGrpSpPr>
            <p:cNvPr id="162" name="Graphic 4">
              <a:extLst>
                <a:ext uri="{FF2B5EF4-FFF2-40B4-BE49-F238E27FC236}">
                  <a16:creationId xmlns:a16="http://schemas.microsoft.com/office/drawing/2014/main" id="{DE68A118-6085-1091-54AA-B39121F988FE}"/>
                </a:ext>
              </a:extLst>
            </p:cNvPr>
            <p:cNvGrpSpPr/>
            <p:nvPr/>
          </p:nvGrpSpPr>
          <p:grpSpPr>
            <a:xfrm>
              <a:off x="5256244" y="4985060"/>
              <a:ext cx="1713931" cy="462973"/>
              <a:chOff x="5256244" y="4985060"/>
              <a:chExt cx="1713931" cy="462973"/>
            </a:xfrm>
          </p:grpSpPr>
          <p:sp>
            <p:nvSpPr>
              <p:cNvPr id="163" name="Rectangle: Rounded Corners 162">
                <a:extLst>
                  <a:ext uri="{FF2B5EF4-FFF2-40B4-BE49-F238E27FC236}">
                    <a16:creationId xmlns:a16="http://schemas.microsoft.com/office/drawing/2014/main" id="{D8AE852C-8E65-1DFB-46BE-EBC2F4C0BD8A}"/>
                  </a:ext>
                </a:extLst>
              </p:cNvPr>
              <p:cNvSpPr/>
              <p:nvPr/>
            </p:nvSpPr>
            <p:spPr>
              <a:xfrm>
                <a:off x="5256244" y="4996542"/>
                <a:ext cx="1679510" cy="433873"/>
              </a:xfrm>
              <a:prstGeom prst="roundRect">
                <a:avLst>
                  <a:gd name="adj" fmla="val 12903"/>
                </a:avLst>
              </a:prstGeom>
              <a:solidFill>
                <a:srgbClr val="EEEDFE"/>
              </a:solidFill>
              <a:ln w="3495" cap="flat">
                <a:solidFill>
                  <a:srgbClr val="534AB7"/>
                </a:solidFill>
                <a:prstDash val="solid"/>
                <a:miter/>
              </a:ln>
            </p:spPr>
          </p:sp>
          <p:sp>
            <p:nvSpPr>
              <p:cNvPr id="164" name="TextBox 163">
                <a:extLst>
                  <a:ext uri="{FF2B5EF4-FFF2-40B4-BE49-F238E27FC236}">
                    <a16:creationId xmlns:a16="http://schemas.microsoft.com/office/drawing/2014/main" id="{54CBD155-354C-167E-9706-506A19661294}"/>
                  </a:ext>
                </a:extLst>
              </p:cNvPr>
              <p:cNvSpPr txBox="1"/>
              <p:nvPr/>
            </p:nvSpPr>
            <p:spPr>
              <a:xfrm>
                <a:off x="5601791" y="4985060"/>
                <a:ext cx="1066318" cy="230832"/>
              </a:xfrm>
              <a:prstGeom prst="rect">
                <a:avLst/>
              </a:prstGeom>
              <a:noFill/>
            </p:spPr>
            <p:txBody>
              <a:bodyPr wrap="none" rtlCol="0">
                <a:spAutoFit/>
              </a:bodyPr>
              <a:lstStyle/>
              <a:p>
                <a:pPr algn="l"/>
                <a:r>
                  <a:rPr lang="en-IN" sz="900" spc="0" baseline="0" dirty="0">
                    <a:ln/>
                    <a:solidFill>
                      <a:srgbClr val="3C3489"/>
                    </a:solidFill>
                    <a:latin typeface="Segoe UI"/>
                    <a:cs typeface="Segoe UI"/>
                    <a:sym typeface="Segoe UI"/>
                    <a:rtl val="0"/>
                  </a:rPr>
                  <a:t>AI models - LLMs</a:t>
                </a:r>
              </a:p>
            </p:txBody>
          </p:sp>
          <p:sp>
            <p:nvSpPr>
              <p:cNvPr id="165" name="TextBox 164">
                <a:extLst>
                  <a:ext uri="{FF2B5EF4-FFF2-40B4-BE49-F238E27FC236}">
                    <a16:creationId xmlns:a16="http://schemas.microsoft.com/office/drawing/2014/main" id="{2938CB26-E50D-D88E-D7E5-2224AC375A30}"/>
                  </a:ext>
                </a:extLst>
              </p:cNvPr>
              <p:cNvSpPr txBox="1"/>
              <p:nvPr/>
            </p:nvSpPr>
            <p:spPr>
              <a:xfrm>
                <a:off x="5690881" y="5112131"/>
                <a:ext cx="1047082" cy="230832"/>
              </a:xfrm>
              <a:prstGeom prst="rect">
                <a:avLst/>
              </a:prstGeom>
              <a:noFill/>
            </p:spPr>
            <p:txBody>
              <a:bodyPr wrap="none" rtlCol="0">
                <a:spAutoFit/>
              </a:bodyPr>
              <a:lstStyle/>
              <a:p>
                <a:pPr algn="l"/>
                <a:r>
                  <a:rPr lang="en-IN" sz="900" spc="0" baseline="0">
                    <a:ln/>
                    <a:solidFill>
                      <a:srgbClr val="534AB7"/>
                    </a:solidFill>
                    <a:latin typeface="Segoe UI"/>
                    <a:cs typeface="Segoe UI"/>
                    <a:sym typeface="Segoe UI"/>
                    <a:rtl val="0"/>
                  </a:rPr>
                  <a:t>Amazon Bedrock</a:t>
                </a:r>
              </a:p>
            </p:txBody>
          </p:sp>
          <p:sp>
            <p:nvSpPr>
              <p:cNvPr id="166" name="TextBox 165">
                <a:extLst>
                  <a:ext uri="{FF2B5EF4-FFF2-40B4-BE49-F238E27FC236}">
                    <a16:creationId xmlns:a16="http://schemas.microsoft.com/office/drawing/2014/main" id="{B91578F0-C9F7-8A78-EAC7-87E7C89C309A}"/>
                  </a:ext>
                </a:extLst>
              </p:cNvPr>
              <p:cNvSpPr txBox="1"/>
              <p:nvPr/>
            </p:nvSpPr>
            <p:spPr>
              <a:xfrm>
                <a:off x="5256244" y="5232589"/>
                <a:ext cx="1713931" cy="215444"/>
              </a:xfrm>
              <a:prstGeom prst="rect">
                <a:avLst/>
              </a:prstGeom>
              <a:noFill/>
            </p:spPr>
            <p:txBody>
              <a:bodyPr wrap="none" rtlCol="0">
                <a:spAutoFit/>
              </a:bodyPr>
              <a:lstStyle/>
              <a:p>
                <a:pPr algn="l"/>
                <a:r>
                  <a:rPr lang="en-IN" sz="800" spc="0" baseline="0" dirty="0">
                    <a:ln/>
                    <a:solidFill>
                      <a:srgbClr val="534AB7"/>
                    </a:solidFill>
                    <a:latin typeface="Segoe UI"/>
                    <a:cs typeface="Segoe UI"/>
                    <a:sym typeface="Segoe UI"/>
                    <a:rtl val="0"/>
                  </a:rPr>
                  <a:t>Claude / Titan foundation models</a:t>
                </a:r>
              </a:p>
            </p:txBody>
          </p:sp>
        </p:grpSp>
        <p:sp>
          <p:nvSpPr>
            <p:cNvPr id="167" name="Freeform: Shape 166">
              <a:extLst>
                <a:ext uri="{FF2B5EF4-FFF2-40B4-BE49-F238E27FC236}">
                  <a16:creationId xmlns:a16="http://schemas.microsoft.com/office/drawing/2014/main" id="{A377BDA8-CB99-6E7C-B3EE-67F45BAF7C03}"/>
                </a:ext>
              </a:extLst>
            </p:cNvPr>
            <p:cNvSpPr/>
            <p:nvPr/>
          </p:nvSpPr>
          <p:spPr>
            <a:xfrm>
              <a:off x="4563447" y="4534677"/>
              <a:ext cx="685799" cy="643812"/>
            </a:xfrm>
            <a:custGeom>
              <a:avLst/>
              <a:gdLst>
                <a:gd name="csX0" fmla="*/ 0 w 685799"/>
                <a:gd name="csY0" fmla="*/ 0 h 643812"/>
                <a:gd name="csX1" fmla="*/ 0 w 685799"/>
                <a:gd name="csY1" fmla="*/ 643812 h 643812"/>
                <a:gd name="csX2" fmla="*/ 685800 w 685799"/>
                <a:gd name="csY2" fmla="*/ 643812 h 643812"/>
              </a:gdLst>
              <a:ahLst/>
              <a:cxnLst>
                <a:cxn ang="0">
                  <a:pos x="csX0" y="csY0"/>
                </a:cxn>
                <a:cxn ang="0">
                  <a:pos x="csX1" y="csY1"/>
                </a:cxn>
                <a:cxn ang="0">
                  <a:pos x="csX2" y="csY2"/>
                </a:cxn>
              </a:cxnLst>
              <a:rect l="l" t="t" r="r" b="b"/>
              <a:pathLst>
                <a:path w="685799" h="643812">
                  <a:moveTo>
                    <a:pt x="0" y="0"/>
                  </a:moveTo>
                  <a:lnTo>
                    <a:pt x="0" y="643812"/>
                  </a:lnTo>
                  <a:lnTo>
                    <a:pt x="685800" y="643812"/>
                  </a:lnTo>
                </a:path>
              </a:pathLst>
            </a:custGeom>
            <a:noFill/>
            <a:ln w="6990" cap="flat">
              <a:solidFill>
                <a:srgbClr val="7F77DD">
                  <a:alpha val="50000"/>
                </a:srgbClr>
              </a:solidFill>
              <a:prstDash val="solid"/>
              <a:miter/>
            </a:ln>
          </p:spPr>
        </p:sp>
        <p:sp>
          <p:nvSpPr>
            <p:cNvPr id="168" name="Freeform: Shape 167">
              <a:extLst>
                <a:ext uri="{FF2B5EF4-FFF2-40B4-BE49-F238E27FC236}">
                  <a16:creationId xmlns:a16="http://schemas.microsoft.com/office/drawing/2014/main" id="{37A918F1-490D-0001-3B67-03AE1F5FBF85}"/>
                </a:ext>
              </a:extLst>
            </p:cNvPr>
            <p:cNvSpPr/>
            <p:nvPr/>
          </p:nvSpPr>
          <p:spPr>
            <a:xfrm>
              <a:off x="6942753" y="4534677"/>
              <a:ext cx="685799" cy="643812"/>
            </a:xfrm>
            <a:custGeom>
              <a:avLst/>
              <a:gdLst>
                <a:gd name="csX0" fmla="*/ 685800 w 685799"/>
                <a:gd name="csY0" fmla="*/ 0 h 643812"/>
                <a:gd name="csX1" fmla="*/ 685800 w 685799"/>
                <a:gd name="csY1" fmla="*/ 643812 h 643812"/>
                <a:gd name="csX2" fmla="*/ 0 w 685799"/>
                <a:gd name="csY2" fmla="*/ 643812 h 643812"/>
              </a:gdLst>
              <a:ahLst/>
              <a:cxnLst>
                <a:cxn ang="0">
                  <a:pos x="csX0" y="csY0"/>
                </a:cxn>
                <a:cxn ang="0">
                  <a:pos x="csX1" y="csY1"/>
                </a:cxn>
                <a:cxn ang="0">
                  <a:pos x="csX2" y="csY2"/>
                </a:cxn>
              </a:cxnLst>
              <a:rect l="l" t="t" r="r" b="b"/>
              <a:pathLst>
                <a:path w="685799" h="643812">
                  <a:moveTo>
                    <a:pt x="685800" y="0"/>
                  </a:moveTo>
                  <a:lnTo>
                    <a:pt x="685800" y="643812"/>
                  </a:lnTo>
                  <a:lnTo>
                    <a:pt x="0" y="643812"/>
                  </a:lnTo>
                </a:path>
              </a:pathLst>
            </a:custGeom>
            <a:noFill/>
            <a:ln w="6990" cap="flat">
              <a:solidFill>
                <a:srgbClr val="7F77DD">
                  <a:alpha val="50000"/>
                </a:srgbClr>
              </a:solidFill>
              <a:prstDash val="solid"/>
              <a:miter/>
            </a:ln>
          </p:spPr>
        </p:sp>
        <p:sp>
          <p:nvSpPr>
            <p:cNvPr id="169" name="Freeform: Shape 168">
              <a:extLst>
                <a:ext uri="{FF2B5EF4-FFF2-40B4-BE49-F238E27FC236}">
                  <a16:creationId xmlns:a16="http://schemas.microsoft.com/office/drawing/2014/main" id="{ABDB1949-1A17-EC7C-65C0-CC3D4F5B4ADC}"/>
                </a:ext>
              </a:extLst>
            </p:cNvPr>
            <p:cNvSpPr/>
            <p:nvPr/>
          </p:nvSpPr>
          <p:spPr>
            <a:xfrm>
              <a:off x="6096000" y="1707502"/>
              <a:ext cx="6997" cy="3282042"/>
            </a:xfrm>
            <a:custGeom>
              <a:avLst/>
              <a:gdLst>
                <a:gd name="csX0" fmla="*/ 0 w 6997"/>
                <a:gd name="csY0" fmla="*/ 0 h 3282042"/>
                <a:gd name="csX1" fmla="*/ 0 w 6997"/>
                <a:gd name="csY1" fmla="*/ 3282043 h 3282042"/>
              </a:gdLst>
              <a:ahLst/>
              <a:cxnLst>
                <a:cxn ang="0">
                  <a:pos x="csX0" y="csY0"/>
                </a:cxn>
                <a:cxn ang="0">
                  <a:pos x="csX1" y="csY1"/>
                </a:cxn>
              </a:cxnLst>
              <a:rect l="l" t="t" r="r" b="b"/>
              <a:pathLst>
                <a:path w="6997" h="3282042">
                  <a:moveTo>
                    <a:pt x="0" y="0"/>
                  </a:moveTo>
                  <a:lnTo>
                    <a:pt x="0" y="3282043"/>
                  </a:lnTo>
                </a:path>
              </a:pathLst>
            </a:custGeom>
            <a:noFill/>
            <a:ln w="6990" cap="flat">
              <a:solidFill>
                <a:srgbClr val="7F77DD">
                  <a:alpha val="35000"/>
                </a:srgbClr>
              </a:solidFill>
              <a:custDash>
                <a:ds d="375000" sp="225000"/>
              </a:custDash>
              <a:miter/>
            </a:ln>
          </p:spPr>
        </p:sp>
        <p:grpSp>
          <p:nvGrpSpPr>
            <p:cNvPr id="170" name="Graphic 4">
              <a:extLst>
                <a:ext uri="{FF2B5EF4-FFF2-40B4-BE49-F238E27FC236}">
                  <a16:creationId xmlns:a16="http://schemas.microsoft.com/office/drawing/2014/main" id="{BD2D6EEE-A547-4335-DBB2-5665A3695CBA}"/>
                </a:ext>
              </a:extLst>
            </p:cNvPr>
            <p:cNvGrpSpPr/>
            <p:nvPr/>
          </p:nvGrpSpPr>
          <p:grpSpPr>
            <a:xfrm>
              <a:off x="6893767" y="5874836"/>
              <a:ext cx="1563194" cy="480875"/>
              <a:chOff x="6893767" y="5874836"/>
              <a:chExt cx="1563194" cy="480875"/>
            </a:xfrm>
          </p:grpSpPr>
          <p:sp>
            <p:nvSpPr>
              <p:cNvPr id="171" name="Rectangle: Rounded Corners 170">
                <a:extLst>
                  <a:ext uri="{FF2B5EF4-FFF2-40B4-BE49-F238E27FC236}">
                    <a16:creationId xmlns:a16="http://schemas.microsoft.com/office/drawing/2014/main" id="{8CE2A209-6B72-D951-2DF3-14BE8A297C31}"/>
                  </a:ext>
                </a:extLst>
              </p:cNvPr>
              <p:cNvSpPr/>
              <p:nvPr/>
            </p:nvSpPr>
            <p:spPr>
              <a:xfrm>
                <a:off x="6893767" y="5878285"/>
                <a:ext cx="1469571" cy="433873"/>
              </a:xfrm>
              <a:prstGeom prst="roundRect">
                <a:avLst>
                  <a:gd name="adj" fmla="val 12903"/>
                </a:avLst>
              </a:prstGeom>
              <a:solidFill>
                <a:srgbClr val="E1F5EE"/>
              </a:solidFill>
              <a:ln w="3495" cap="flat">
                <a:solidFill>
                  <a:srgbClr val="0F6E56"/>
                </a:solidFill>
                <a:prstDash val="solid"/>
                <a:miter/>
              </a:ln>
            </p:spPr>
          </p:sp>
          <p:sp>
            <p:nvSpPr>
              <p:cNvPr id="172" name="TextBox 171">
                <a:extLst>
                  <a:ext uri="{FF2B5EF4-FFF2-40B4-BE49-F238E27FC236}">
                    <a16:creationId xmlns:a16="http://schemas.microsoft.com/office/drawing/2014/main" id="{2E50303A-07BE-0BDB-CF6E-D61772984E11}"/>
                  </a:ext>
                </a:extLst>
              </p:cNvPr>
              <p:cNvSpPr txBox="1"/>
              <p:nvPr/>
            </p:nvSpPr>
            <p:spPr>
              <a:xfrm>
                <a:off x="7045993" y="5874836"/>
                <a:ext cx="1172116" cy="230832"/>
              </a:xfrm>
              <a:prstGeom prst="rect">
                <a:avLst/>
              </a:prstGeom>
              <a:noFill/>
            </p:spPr>
            <p:txBody>
              <a:bodyPr wrap="none" rtlCol="0">
                <a:spAutoFit/>
              </a:bodyPr>
              <a:lstStyle/>
              <a:p>
                <a:pPr algn="l"/>
                <a:r>
                  <a:rPr lang="en-IN" sz="900" spc="0" baseline="0" dirty="0">
                    <a:ln/>
                    <a:solidFill>
                      <a:srgbClr val="085041"/>
                    </a:solidFill>
                    <a:latin typeface="Segoe UI"/>
                    <a:cs typeface="Segoe UI"/>
                    <a:sym typeface="Segoe UI"/>
                    <a:rtl val="0"/>
                  </a:rPr>
                  <a:t>Customer database</a:t>
                </a:r>
              </a:p>
            </p:txBody>
          </p:sp>
          <p:sp>
            <p:nvSpPr>
              <p:cNvPr id="173" name="TextBox 172">
                <a:extLst>
                  <a:ext uri="{FF2B5EF4-FFF2-40B4-BE49-F238E27FC236}">
                    <a16:creationId xmlns:a16="http://schemas.microsoft.com/office/drawing/2014/main" id="{233938D7-5DCD-FE54-5786-04B83BC80408}"/>
                  </a:ext>
                </a:extLst>
              </p:cNvPr>
              <p:cNvSpPr txBox="1"/>
              <p:nvPr/>
            </p:nvSpPr>
            <p:spPr>
              <a:xfrm>
                <a:off x="6928979" y="6012912"/>
                <a:ext cx="1527982" cy="230832"/>
              </a:xfrm>
              <a:prstGeom prst="rect">
                <a:avLst/>
              </a:prstGeom>
              <a:noFill/>
            </p:spPr>
            <p:txBody>
              <a:bodyPr wrap="none" rtlCol="0">
                <a:spAutoFit/>
              </a:bodyPr>
              <a:lstStyle/>
              <a:p>
                <a:pPr algn="l"/>
                <a:r>
                  <a:rPr lang="en-IN" sz="900" spc="0" baseline="0">
                    <a:ln/>
                    <a:solidFill>
                      <a:srgbClr val="0F6E56"/>
                    </a:solidFill>
                    <a:latin typeface="Segoe UI"/>
                    <a:cs typeface="Segoe UI"/>
                    <a:sym typeface="Segoe UI"/>
                    <a:rtl val="0"/>
                  </a:rPr>
                  <a:t>Amazon DynamoDB / RDS</a:t>
                </a:r>
              </a:p>
            </p:txBody>
          </p:sp>
          <p:sp>
            <p:nvSpPr>
              <p:cNvPr id="174" name="TextBox 173">
                <a:extLst>
                  <a:ext uri="{FF2B5EF4-FFF2-40B4-BE49-F238E27FC236}">
                    <a16:creationId xmlns:a16="http://schemas.microsoft.com/office/drawing/2014/main" id="{0405B545-BAD1-113F-8E86-B5F8014A77C2}"/>
                  </a:ext>
                </a:extLst>
              </p:cNvPr>
              <p:cNvSpPr txBox="1"/>
              <p:nvPr/>
            </p:nvSpPr>
            <p:spPr>
              <a:xfrm>
                <a:off x="7099759" y="6124879"/>
                <a:ext cx="1059906" cy="230832"/>
              </a:xfrm>
              <a:prstGeom prst="rect">
                <a:avLst/>
              </a:prstGeom>
              <a:noFill/>
            </p:spPr>
            <p:txBody>
              <a:bodyPr wrap="none" rtlCol="0">
                <a:spAutoFit/>
              </a:bodyPr>
              <a:lstStyle/>
              <a:p>
                <a:pPr algn="l"/>
                <a:r>
                  <a:rPr lang="en-IN" sz="900" spc="0" baseline="0" dirty="0">
                    <a:ln/>
                    <a:solidFill>
                      <a:srgbClr val="0F6E56"/>
                    </a:solidFill>
                    <a:latin typeface="Segoe UI"/>
                    <a:cs typeface="Segoe UI"/>
                    <a:sym typeface="Segoe UI"/>
                    <a:rtl val="0"/>
                  </a:rPr>
                  <a:t>Profiles &amp; history</a:t>
                </a:r>
              </a:p>
            </p:txBody>
          </p:sp>
        </p:grpSp>
        <p:sp>
          <p:nvSpPr>
            <p:cNvPr id="175" name="Freeform: Shape 174">
              <a:extLst>
                <a:ext uri="{FF2B5EF4-FFF2-40B4-BE49-F238E27FC236}">
                  <a16:creationId xmlns:a16="http://schemas.microsoft.com/office/drawing/2014/main" id="{480A2BB1-832A-D01A-32DF-1D0AE4F1266D}"/>
                </a:ext>
              </a:extLst>
            </p:cNvPr>
            <p:cNvSpPr/>
            <p:nvPr/>
          </p:nvSpPr>
          <p:spPr>
            <a:xfrm>
              <a:off x="6942753" y="5262465"/>
              <a:ext cx="685799" cy="615820"/>
            </a:xfrm>
            <a:custGeom>
              <a:avLst/>
              <a:gdLst>
                <a:gd name="csX0" fmla="*/ 685800 w 685799"/>
                <a:gd name="csY0" fmla="*/ 615820 h 615820"/>
                <a:gd name="csX1" fmla="*/ 685800 w 685799"/>
                <a:gd name="csY1" fmla="*/ 41988 h 615820"/>
                <a:gd name="csX2" fmla="*/ 0 w 685799"/>
                <a:gd name="csY2" fmla="*/ 0 h 615820"/>
              </a:gdLst>
              <a:ahLst/>
              <a:cxnLst>
                <a:cxn ang="0">
                  <a:pos x="csX0" y="csY0"/>
                </a:cxn>
                <a:cxn ang="0">
                  <a:pos x="csX1" y="csY1"/>
                </a:cxn>
                <a:cxn ang="0">
                  <a:pos x="csX2" y="csY2"/>
                </a:cxn>
              </a:cxnLst>
              <a:rect l="l" t="t" r="r" b="b"/>
              <a:pathLst>
                <a:path w="685799" h="615820">
                  <a:moveTo>
                    <a:pt x="685800" y="615820"/>
                  </a:moveTo>
                  <a:lnTo>
                    <a:pt x="685800" y="41988"/>
                  </a:lnTo>
                  <a:lnTo>
                    <a:pt x="0" y="0"/>
                  </a:lnTo>
                </a:path>
              </a:pathLst>
            </a:custGeom>
            <a:noFill/>
            <a:ln w="6990" cap="flat">
              <a:solidFill>
                <a:srgbClr val="1D9E75">
                  <a:alpha val="50000"/>
                </a:srgbClr>
              </a:solidFill>
              <a:prstDash val="solid"/>
              <a:miter/>
            </a:ln>
          </p:spPr>
        </p:sp>
        <p:sp>
          <p:nvSpPr>
            <p:cNvPr id="176" name="TextBox 175">
              <a:extLst>
                <a:ext uri="{FF2B5EF4-FFF2-40B4-BE49-F238E27FC236}">
                  <a16:creationId xmlns:a16="http://schemas.microsoft.com/office/drawing/2014/main" id="{B6407262-5714-CED0-7464-FB6703E1D67E}"/>
                </a:ext>
              </a:extLst>
            </p:cNvPr>
            <p:cNvSpPr txBox="1"/>
            <p:nvPr/>
          </p:nvSpPr>
          <p:spPr>
            <a:xfrm>
              <a:off x="7294603" y="5448033"/>
              <a:ext cx="352982" cy="230832"/>
            </a:xfrm>
            <a:prstGeom prst="rect">
              <a:avLst/>
            </a:prstGeom>
            <a:noFill/>
          </p:spPr>
          <p:txBody>
            <a:bodyPr wrap="none" rtlCol="0">
              <a:spAutoFit/>
            </a:bodyPr>
            <a:lstStyle/>
            <a:p>
              <a:pPr algn="l"/>
              <a:r>
                <a:rPr lang="en-IN" sz="900" spc="0" baseline="0">
                  <a:ln/>
                  <a:solidFill>
                    <a:srgbClr val="3D3D3A"/>
                  </a:solidFill>
                  <a:latin typeface="Segoe UI"/>
                  <a:cs typeface="Segoe UI"/>
                  <a:sym typeface="Segoe UI"/>
                  <a:rtl val="0"/>
                </a:rPr>
                <a:t>API</a:t>
              </a:r>
            </a:p>
          </p:txBody>
        </p:sp>
        <p:sp>
          <p:nvSpPr>
            <p:cNvPr id="177" name="Freeform: Shape 176">
              <a:extLst>
                <a:ext uri="{FF2B5EF4-FFF2-40B4-BE49-F238E27FC236}">
                  <a16:creationId xmlns:a16="http://schemas.microsoft.com/office/drawing/2014/main" id="{B82FA575-882A-B356-F2B6-FB7A6838AA80}"/>
                </a:ext>
              </a:extLst>
            </p:cNvPr>
            <p:cNvSpPr/>
            <p:nvPr/>
          </p:nvSpPr>
          <p:spPr>
            <a:xfrm>
              <a:off x="7628552" y="4541675"/>
              <a:ext cx="6997" cy="1336610"/>
            </a:xfrm>
            <a:custGeom>
              <a:avLst/>
              <a:gdLst>
                <a:gd name="csX0" fmla="*/ 0 w 6997"/>
                <a:gd name="csY0" fmla="*/ 1336610 h 1336610"/>
                <a:gd name="csX1" fmla="*/ 0 w 6997"/>
                <a:gd name="csY1" fmla="*/ 0 h 1336610"/>
              </a:gdLst>
              <a:ahLst/>
              <a:cxnLst>
                <a:cxn ang="0">
                  <a:pos x="csX0" y="csY0"/>
                </a:cxn>
                <a:cxn ang="0">
                  <a:pos x="csX1" y="csY1"/>
                </a:cxn>
              </a:cxnLst>
              <a:rect l="l" t="t" r="r" b="b"/>
              <a:pathLst>
                <a:path w="6997" h="1336610">
                  <a:moveTo>
                    <a:pt x="0" y="1336610"/>
                  </a:moveTo>
                  <a:lnTo>
                    <a:pt x="0" y="0"/>
                  </a:lnTo>
                </a:path>
              </a:pathLst>
            </a:custGeom>
            <a:ln w="5592" cap="flat">
              <a:solidFill>
                <a:srgbClr val="1D9E75">
                  <a:alpha val="35000"/>
                </a:srgbClr>
              </a:solidFill>
              <a:custDash>
                <a:ds d="300000" sp="225000"/>
              </a:custDash>
              <a:miter/>
            </a:ln>
          </p:spPr>
        </p:sp>
        <p:sp>
          <p:nvSpPr>
            <p:cNvPr id="188" name="Freeform: Shape 187">
              <a:extLst>
                <a:ext uri="{FF2B5EF4-FFF2-40B4-BE49-F238E27FC236}">
                  <a16:creationId xmlns:a16="http://schemas.microsoft.com/office/drawing/2014/main" id="{F7BE2B59-C5C0-B46A-1997-3D6E309630F9}"/>
                </a:ext>
              </a:extLst>
            </p:cNvPr>
            <p:cNvSpPr/>
            <p:nvPr/>
          </p:nvSpPr>
          <p:spPr>
            <a:xfrm>
              <a:off x="7020868" y="1373746"/>
              <a:ext cx="1660055" cy="2658218"/>
            </a:xfrm>
            <a:custGeom>
              <a:avLst/>
              <a:gdLst>
                <a:gd name="csX0" fmla="*/ 622818 w 622818"/>
                <a:gd name="csY0" fmla="*/ 0 h 2414295"/>
                <a:gd name="csX1" fmla="*/ 0 w 622818"/>
                <a:gd name="csY1" fmla="*/ 0 h 2414295"/>
                <a:gd name="csX2" fmla="*/ 0 w 622818"/>
                <a:gd name="csY2" fmla="*/ 2414296 h 2414295"/>
                <a:gd name="csX0" fmla="*/ 1045299 w 1045299"/>
                <a:gd name="csY0" fmla="*/ 0 h 2014246"/>
                <a:gd name="csX1" fmla="*/ 422481 w 1045299"/>
                <a:gd name="csY1" fmla="*/ 0 h 2014246"/>
                <a:gd name="csX2" fmla="*/ 0 w 1045299"/>
                <a:gd name="csY2" fmla="*/ 2014246 h 2014246"/>
                <a:gd name="csX0" fmla="*/ 622818 w 895307"/>
                <a:gd name="csY0" fmla="*/ 0 h 1718971"/>
                <a:gd name="csX1" fmla="*/ 0 w 895307"/>
                <a:gd name="csY1" fmla="*/ 0 h 1718971"/>
                <a:gd name="csX2" fmla="*/ 895307 w 895307"/>
                <a:gd name="csY2" fmla="*/ 1718971 h 1718971"/>
                <a:gd name="csX0" fmla="*/ 1137 w 273626"/>
                <a:gd name="csY0" fmla="*/ 0 h 1718971"/>
                <a:gd name="csX1" fmla="*/ 0 w 273626"/>
                <a:gd name="csY1" fmla="*/ 304800 h 1718971"/>
                <a:gd name="csX2" fmla="*/ 273626 w 273626"/>
                <a:gd name="csY2" fmla="*/ 1718971 h 1718971"/>
                <a:gd name="csX0" fmla="*/ 1137 w 273626"/>
                <a:gd name="csY0" fmla="*/ 0 h 1718971"/>
                <a:gd name="csX1" fmla="*/ 0 w 273626"/>
                <a:gd name="csY1" fmla="*/ 304800 h 1718971"/>
                <a:gd name="csX2" fmla="*/ 273626 w 273626"/>
                <a:gd name="csY2" fmla="*/ 1718971 h 1718971"/>
                <a:gd name="csX0" fmla="*/ 1137 w 188255"/>
                <a:gd name="csY0" fmla="*/ 0 h 1647533"/>
                <a:gd name="csX1" fmla="*/ 0 w 188255"/>
                <a:gd name="csY1" fmla="*/ 304800 h 1647533"/>
                <a:gd name="csX2" fmla="*/ 188254 w 188255"/>
                <a:gd name="csY2" fmla="*/ 1647533 h 1647533"/>
                <a:gd name="csX0" fmla="*/ 710378 w 897495"/>
                <a:gd name="csY0" fmla="*/ 0 h 1647533"/>
                <a:gd name="csX1" fmla="*/ 0 w 897495"/>
                <a:gd name="csY1" fmla="*/ 261938 h 1647533"/>
                <a:gd name="csX2" fmla="*/ 897495 w 897495"/>
                <a:gd name="csY2" fmla="*/ 1647533 h 1647533"/>
                <a:gd name="csX0" fmla="*/ 730081 w 730081"/>
                <a:gd name="csY0" fmla="*/ 0 h 2666708"/>
                <a:gd name="csX1" fmla="*/ 19703 w 730081"/>
                <a:gd name="csY1" fmla="*/ 261938 h 2666708"/>
                <a:gd name="csX2" fmla="*/ 0 w 730081"/>
                <a:gd name="csY2" fmla="*/ 2666708 h 2666708"/>
                <a:gd name="csX0" fmla="*/ 730081 w 730081"/>
                <a:gd name="csY0" fmla="*/ 0 h 2666708"/>
                <a:gd name="csX1" fmla="*/ 13136 w 730081"/>
                <a:gd name="csY1" fmla="*/ 0 h 2666708"/>
                <a:gd name="csX2" fmla="*/ 0 w 730081"/>
                <a:gd name="csY2" fmla="*/ 2666708 h 2666708"/>
                <a:gd name="csX0" fmla="*/ 730081 w 730081"/>
                <a:gd name="csY0" fmla="*/ 0 h 2666708"/>
                <a:gd name="csX1" fmla="*/ 13136 w 730081"/>
                <a:gd name="csY1" fmla="*/ 0 h 2666708"/>
                <a:gd name="csX2" fmla="*/ 0 w 730081"/>
                <a:gd name="csY2" fmla="*/ 2666708 h 2666708"/>
                <a:gd name="csX0" fmla="*/ 730081 w 730081"/>
                <a:gd name="csY0" fmla="*/ 0 h 2661945"/>
                <a:gd name="csX1" fmla="*/ 13136 w 730081"/>
                <a:gd name="csY1" fmla="*/ 0 h 2661945"/>
                <a:gd name="csX2" fmla="*/ 0 w 730081"/>
                <a:gd name="csY2" fmla="*/ 2661945 h 2661945"/>
                <a:gd name="csX0" fmla="*/ 730081 w 730081"/>
                <a:gd name="csY0" fmla="*/ 0 h 2661954"/>
                <a:gd name="csX1" fmla="*/ 13136 w 730081"/>
                <a:gd name="csY1" fmla="*/ 0 h 2661954"/>
                <a:gd name="csX2" fmla="*/ 0 w 730081"/>
                <a:gd name="csY2" fmla="*/ 2661945 h 2661954"/>
                <a:gd name="csX0" fmla="*/ 716945 w 716945"/>
                <a:gd name="csY0" fmla="*/ 0 h 2447642"/>
                <a:gd name="csX1" fmla="*/ 0 w 716945"/>
                <a:gd name="csY1" fmla="*/ 0 h 2447642"/>
                <a:gd name="csX2" fmla="*/ 94126 w 716945"/>
                <a:gd name="csY2" fmla="*/ 2447632 h 2447642"/>
                <a:gd name="csX0" fmla="*/ 0 w 794938"/>
                <a:gd name="csY0" fmla="*/ 4924 h 2447642"/>
                <a:gd name="csX1" fmla="*/ 700484 w 794938"/>
                <a:gd name="csY1" fmla="*/ 0 h 2447642"/>
                <a:gd name="csX2" fmla="*/ 794610 w 794938"/>
                <a:gd name="csY2" fmla="*/ 2447632 h 2447642"/>
                <a:gd name="csX0" fmla="*/ 0 w 997027"/>
                <a:gd name="csY0" fmla="*/ 19693 h 2447642"/>
                <a:gd name="csX1" fmla="*/ 902573 w 997027"/>
                <a:gd name="csY1" fmla="*/ 0 h 2447642"/>
                <a:gd name="csX2" fmla="*/ 996699 w 997027"/>
                <a:gd name="csY2" fmla="*/ 2447632 h 2447642"/>
                <a:gd name="csX0" fmla="*/ 0 w 1032502"/>
                <a:gd name="csY0" fmla="*/ 4923 h 2432872"/>
                <a:gd name="csX1" fmla="*/ 1031686 w 1032502"/>
                <a:gd name="csY1" fmla="*/ 0 h 2432872"/>
                <a:gd name="csX2" fmla="*/ 996699 w 1032502"/>
                <a:gd name="csY2" fmla="*/ 2432862 h 2432872"/>
                <a:gd name="csX0" fmla="*/ 0 w 1031812"/>
                <a:gd name="csY0" fmla="*/ 4923 h 2752882"/>
                <a:gd name="csX1" fmla="*/ 1031686 w 1031812"/>
                <a:gd name="csY1" fmla="*/ 0 h 2752882"/>
                <a:gd name="csX2" fmla="*/ 780576 w 1031812"/>
                <a:gd name="csY2" fmla="*/ 2752874 h 2752882"/>
                <a:gd name="csX0" fmla="*/ 0 w 978516"/>
                <a:gd name="csY0" fmla="*/ 0 h 2747959"/>
                <a:gd name="csX1" fmla="*/ 978357 w 978516"/>
                <a:gd name="csY1" fmla="*/ 0 h 2747959"/>
                <a:gd name="csX2" fmla="*/ 780576 w 978516"/>
                <a:gd name="csY2" fmla="*/ 2747951 h 2747959"/>
                <a:gd name="csX0" fmla="*/ 0 w 978357"/>
                <a:gd name="csY0" fmla="*/ 0 h 2747959"/>
                <a:gd name="csX1" fmla="*/ 978357 w 978357"/>
                <a:gd name="csY1" fmla="*/ 0 h 2747959"/>
                <a:gd name="csX2" fmla="*/ 780576 w 978357"/>
                <a:gd name="csY2" fmla="*/ 2747951 h 2747959"/>
              </a:gdLst>
              <a:ahLst/>
              <a:cxnLst>
                <a:cxn ang="0">
                  <a:pos x="csX0" y="csY0"/>
                </a:cxn>
                <a:cxn ang="0">
                  <a:pos x="csX1" y="csY1"/>
                </a:cxn>
                <a:cxn ang="0">
                  <a:pos x="csX2" y="csY2"/>
                </a:cxn>
              </a:cxnLst>
              <a:rect l="l" t="t" r="r" b="b"/>
              <a:pathLst>
                <a:path w="978357" h="2747959">
                  <a:moveTo>
                    <a:pt x="0" y="0"/>
                  </a:moveTo>
                  <a:lnTo>
                    <a:pt x="978357" y="0"/>
                  </a:lnTo>
                  <a:cubicBezTo>
                    <a:pt x="928788" y="723322"/>
                    <a:pt x="787143" y="2752811"/>
                    <a:pt x="780576" y="2747951"/>
                  </a:cubicBezTo>
                </a:path>
              </a:pathLst>
            </a:custGeom>
            <a:noFill/>
            <a:ln w="6990" cap="flat">
              <a:solidFill>
                <a:srgbClr val="BA7517">
                  <a:alpha val="50000"/>
                </a:srgbClr>
              </a:solidFill>
              <a:prstDash val="solid"/>
              <a:miter/>
            </a:ln>
          </p:spPr>
        </p:sp>
      </p:grpSp>
    </p:spTree>
    <p:extLst>
      <p:ext uri="{BB962C8B-B14F-4D97-AF65-F5344CB8AC3E}">
        <p14:creationId xmlns:p14="http://schemas.microsoft.com/office/powerpoint/2010/main" val="1749885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A1B9-D62E-F414-AB9C-DA8F22C8D70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A1AD59B-93A2-121D-E68A-D706A4DFCDC1}"/>
              </a:ext>
            </a:extLst>
          </p:cNvPr>
          <p:cNvSpPr txBox="1"/>
          <p:nvPr/>
        </p:nvSpPr>
        <p:spPr>
          <a:xfrm>
            <a:off x="567267" y="457200"/>
            <a:ext cx="2297937" cy="369332"/>
          </a:xfrm>
          <a:prstGeom prst="rect">
            <a:avLst/>
          </a:prstGeom>
          <a:noFill/>
        </p:spPr>
        <p:txBody>
          <a:bodyPr wrap="none" rtlCol="0">
            <a:spAutoFit/>
          </a:bodyPr>
          <a:lstStyle/>
          <a:p>
            <a:r>
              <a:rPr lang="en-IN" dirty="0"/>
              <a:t>Models Used and Why</a:t>
            </a:r>
          </a:p>
        </p:txBody>
      </p:sp>
      <p:graphicFrame>
        <p:nvGraphicFramePr>
          <p:cNvPr id="2" name="Table 1">
            <a:extLst>
              <a:ext uri="{FF2B5EF4-FFF2-40B4-BE49-F238E27FC236}">
                <a16:creationId xmlns:a16="http://schemas.microsoft.com/office/drawing/2014/main" id="{3C75524D-6F8B-45D8-9BFC-FE330CCA758B}"/>
              </a:ext>
            </a:extLst>
          </p:cNvPr>
          <p:cNvGraphicFramePr>
            <a:graphicFrameLocks noGrp="1"/>
          </p:cNvGraphicFramePr>
          <p:nvPr>
            <p:extLst>
              <p:ext uri="{D42A27DB-BD31-4B8C-83A1-F6EECF244321}">
                <p14:modId xmlns:p14="http://schemas.microsoft.com/office/powerpoint/2010/main" val="2718295424"/>
              </p:ext>
            </p:extLst>
          </p:nvPr>
        </p:nvGraphicFramePr>
        <p:xfrm>
          <a:off x="595421" y="1172319"/>
          <a:ext cx="11283310" cy="5261668"/>
        </p:xfrm>
        <a:graphic>
          <a:graphicData uri="http://schemas.openxmlformats.org/drawingml/2006/table">
            <a:tbl>
              <a:tblPr>
                <a:tableStyleId>{2D5ABB26-0587-4C30-8999-92F81FD0307C}</a:tableStyleId>
              </a:tblPr>
              <a:tblGrid>
                <a:gridCol w="2256662">
                  <a:extLst>
                    <a:ext uri="{9D8B030D-6E8A-4147-A177-3AD203B41FA5}">
                      <a16:colId xmlns:a16="http://schemas.microsoft.com/office/drawing/2014/main" val="70993181"/>
                    </a:ext>
                  </a:extLst>
                </a:gridCol>
                <a:gridCol w="2256662">
                  <a:extLst>
                    <a:ext uri="{9D8B030D-6E8A-4147-A177-3AD203B41FA5}">
                      <a16:colId xmlns:a16="http://schemas.microsoft.com/office/drawing/2014/main" val="3193832950"/>
                    </a:ext>
                  </a:extLst>
                </a:gridCol>
                <a:gridCol w="1664588">
                  <a:extLst>
                    <a:ext uri="{9D8B030D-6E8A-4147-A177-3AD203B41FA5}">
                      <a16:colId xmlns:a16="http://schemas.microsoft.com/office/drawing/2014/main" val="383634659"/>
                    </a:ext>
                  </a:extLst>
                </a:gridCol>
                <a:gridCol w="1964267">
                  <a:extLst>
                    <a:ext uri="{9D8B030D-6E8A-4147-A177-3AD203B41FA5}">
                      <a16:colId xmlns:a16="http://schemas.microsoft.com/office/drawing/2014/main" val="3748152120"/>
                    </a:ext>
                  </a:extLst>
                </a:gridCol>
                <a:gridCol w="3141131">
                  <a:extLst>
                    <a:ext uri="{9D8B030D-6E8A-4147-A177-3AD203B41FA5}">
                      <a16:colId xmlns:a16="http://schemas.microsoft.com/office/drawing/2014/main" val="2032329450"/>
                    </a:ext>
                  </a:extLst>
                </a:gridCol>
              </a:tblGrid>
              <a:tr h="259002">
                <a:tc>
                  <a:txBody>
                    <a:bodyPr/>
                    <a:lstStyle/>
                    <a:p>
                      <a:pPr algn="l">
                        <a:buNone/>
                      </a:pPr>
                      <a:r>
                        <a:rPr lang="en-IN" sz="1600" b="0">
                          <a:effectLst/>
                        </a:rPr>
                        <a:t>Agent</a:t>
                      </a:r>
                    </a:p>
                  </a:txBody>
                  <a:tcPr marL="48348" marR="48348" marT="24174" marB="24174" anchor="ctr">
                    <a:solidFill>
                      <a:schemeClr val="bg1"/>
                    </a:solidFill>
                  </a:tcPr>
                </a:tc>
                <a:tc>
                  <a:txBody>
                    <a:bodyPr/>
                    <a:lstStyle/>
                    <a:p>
                      <a:pPr algn="l">
                        <a:buNone/>
                      </a:pPr>
                      <a:r>
                        <a:rPr lang="en-IN" sz="1600" b="0">
                          <a:effectLst/>
                        </a:rPr>
                        <a:t>Model (Groq)</a:t>
                      </a:r>
                    </a:p>
                  </a:txBody>
                  <a:tcPr marL="48348" marR="48348" marT="24174" marB="24174" anchor="ctr">
                    <a:solidFill>
                      <a:schemeClr val="bg1"/>
                    </a:solidFill>
                  </a:tcPr>
                </a:tc>
                <a:tc>
                  <a:txBody>
                    <a:bodyPr/>
                    <a:lstStyle/>
                    <a:p>
                      <a:pPr algn="l">
                        <a:buNone/>
                      </a:pPr>
                      <a:r>
                        <a:rPr lang="en-IN" sz="1600" b="0" dirty="0">
                          <a:effectLst/>
                        </a:rPr>
                        <a:t>Input / 1M</a:t>
                      </a:r>
                    </a:p>
                  </a:txBody>
                  <a:tcPr marL="48348" marR="48348" marT="24174" marB="24174" anchor="ctr">
                    <a:solidFill>
                      <a:schemeClr val="bg1"/>
                    </a:solidFill>
                  </a:tcPr>
                </a:tc>
                <a:tc>
                  <a:txBody>
                    <a:bodyPr/>
                    <a:lstStyle/>
                    <a:p>
                      <a:pPr algn="l">
                        <a:buNone/>
                      </a:pPr>
                      <a:r>
                        <a:rPr lang="en-IN" sz="1600" b="0">
                          <a:effectLst/>
                        </a:rPr>
                        <a:t>Output / 1M</a:t>
                      </a:r>
                    </a:p>
                  </a:txBody>
                  <a:tcPr marL="48348" marR="48348" marT="24174" marB="24174" anchor="ctr">
                    <a:solidFill>
                      <a:schemeClr val="bg1"/>
                    </a:solidFill>
                  </a:tcPr>
                </a:tc>
                <a:tc>
                  <a:txBody>
                    <a:bodyPr/>
                    <a:lstStyle/>
                    <a:p>
                      <a:pPr algn="l">
                        <a:buNone/>
                      </a:pPr>
                      <a:r>
                        <a:rPr lang="en-IN" sz="1600" b="0" dirty="0">
                          <a:effectLst/>
                        </a:rPr>
                        <a:t>Why</a:t>
                      </a:r>
                    </a:p>
                  </a:txBody>
                  <a:tcPr marL="48348" marR="48348" marT="24174" marB="24174" anchor="ctr">
                    <a:solidFill>
                      <a:schemeClr val="bg1"/>
                    </a:solidFill>
                  </a:tcPr>
                </a:tc>
                <a:extLst>
                  <a:ext uri="{0D108BD9-81ED-4DB2-BD59-A6C34878D82A}">
                    <a16:rowId xmlns:a16="http://schemas.microsoft.com/office/drawing/2014/main" val="610751801"/>
                  </a:ext>
                </a:extLst>
              </a:tr>
              <a:tr h="1123583">
                <a:tc>
                  <a:txBody>
                    <a:bodyPr/>
                    <a:lstStyle/>
                    <a:p>
                      <a:pPr algn="l">
                        <a:buNone/>
                      </a:pPr>
                      <a:r>
                        <a:rPr lang="en-IN" sz="1600" b="1" dirty="0">
                          <a:effectLst/>
                        </a:rPr>
                        <a:t>Orchestrator</a:t>
                      </a:r>
                      <a:endParaRPr lang="en-IN" sz="1600" dirty="0">
                        <a:effectLst/>
                      </a:endParaRPr>
                    </a:p>
                  </a:txBody>
                  <a:tcPr marL="48348" marR="48348" marT="24174" marB="24174" anchor="ctr">
                    <a:solidFill>
                      <a:schemeClr val="bg1"/>
                    </a:solidFill>
                  </a:tcPr>
                </a:tc>
                <a:tc>
                  <a:txBody>
                    <a:bodyPr/>
                    <a:lstStyle/>
                    <a:p>
                      <a:pPr algn="l">
                        <a:buNone/>
                      </a:pPr>
                      <a:r>
                        <a:rPr lang="en-IN" sz="1600" b="1" dirty="0">
                          <a:effectLst/>
                        </a:rPr>
                        <a:t>Llama 3.3 70B</a:t>
                      </a:r>
                      <a:endParaRPr lang="en-IN" sz="1600" dirty="0">
                        <a:effectLst/>
                      </a:endParaRPr>
                    </a:p>
                  </a:txBody>
                  <a:tcPr marL="48348" marR="48348" marT="24174" marB="24174" anchor="ctr">
                    <a:solidFill>
                      <a:schemeClr val="bg1"/>
                    </a:solidFill>
                  </a:tcPr>
                </a:tc>
                <a:tc>
                  <a:txBody>
                    <a:bodyPr/>
                    <a:lstStyle/>
                    <a:p>
                      <a:pPr algn="l">
                        <a:buNone/>
                      </a:pPr>
                      <a:r>
                        <a:rPr lang="en-IN" sz="1600" b="1" dirty="0">
                          <a:effectLst/>
                        </a:rPr>
                        <a:t>$0.59</a:t>
                      </a:r>
                      <a:endParaRPr lang="en-IN" sz="1600" dirty="0">
                        <a:effectLst/>
                      </a:endParaRPr>
                    </a:p>
                  </a:txBody>
                  <a:tcPr marL="48348" marR="48348" marT="24174" marB="24174" anchor="ctr">
                    <a:solidFill>
                      <a:schemeClr val="bg1"/>
                    </a:solidFill>
                  </a:tcPr>
                </a:tc>
                <a:tc>
                  <a:txBody>
                    <a:bodyPr/>
                    <a:lstStyle/>
                    <a:p>
                      <a:pPr algn="l">
                        <a:buNone/>
                      </a:pPr>
                      <a:r>
                        <a:rPr lang="en-IN" sz="1600" b="1" dirty="0">
                          <a:effectLst/>
                        </a:rPr>
                        <a:t>$0.79</a:t>
                      </a:r>
                      <a:endParaRPr lang="en-IN" sz="1600" dirty="0">
                        <a:effectLst/>
                      </a:endParaRPr>
                    </a:p>
                  </a:txBody>
                  <a:tcPr marL="48348" marR="48348" marT="24174" marB="24174" anchor="ctr">
                    <a:solidFill>
                      <a:schemeClr val="bg1"/>
                    </a:solidFill>
                  </a:tcPr>
                </a:tc>
                <a:tc>
                  <a:txBody>
                    <a:bodyPr/>
                    <a:lstStyle/>
                    <a:p>
                      <a:pPr algn="l">
                        <a:buNone/>
                      </a:pPr>
                      <a:r>
                        <a:rPr lang="en-US" sz="1600">
                          <a:effectLst/>
                        </a:rPr>
                        <a:t>High-reasoning model; best for multi-agent coordination, complex planning, and final synthesis.</a:t>
                      </a:r>
                    </a:p>
                  </a:txBody>
                  <a:tcPr marL="48348" marR="48348" marT="24174" marB="24174" anchor="ctr">
                    <a:solidFill>
                      <a:schemeClr val="bg1"/>
                    </a:solidFill>
                  </a:tcPr>
                </a:tc>
                <a:extLst>
                  <a:ext uri="{0D108BD9-81ED-4DB2-BD59-A6C34878D82A}">
                    <a16:rowId xmlns:a16="http://schemas.microsoft.com/office/drawing/2014/main" val="3892200204"/>
                  </a:ext>
                </a:extLst>
              </a:tr>
              <a:tr h="907438">
                <a:tc>
                  <a:txBody>
                    <a:bodyPr/>
                    <a:lstStyle/>
                    <a:p>
                      <a:pPr algn="l">
                        <a:buNone/>
                      </a:pPr>
                      <a:r>
                        <a:rPr lang="en-IN" sz="1600" b="1">
                          <a:effectLst/>
                        </a:rPr>
                        <a:t>Intent Classifier</a:t>
                      </a:r>
                      <a:endParaRPr lang="en-IN" sz="1600">
                        <a:effectLst/>
                      </a:endParaRPr>
                    </a:p>
                  </a:txBody>
                  <a:tcPr marL="48348" marR="48348" marT="24174" marB="24174" anchor="ctr">
                    <a:solidFill>
                      <a:schemeClr val="bg1"/>
                    </a:solidFill>
                  </a:tcPr>
                </a:tc>
                <a:tc>
                  <a:txBody>
                    <a:bodyPr/>
                    <a:lstStyle/>
                    <a:p>
                      <a:pPr algn="l">
                        <a:buNone/>
                      </a:pPr>
                      <a:r>
                        <a:rPr lang="en-IN" sz="1600" b="1" dirty="0">
                          <a:effectLst/>
                        </a:rPr>
                        <a:t>Llama 3.1 8B</a:t>
                      </a:r>
                      <a:endParaRPr lang="en-IN" sz="1600" dirty="0">
                        <a:effectLst/>
                      </a:endParaRPr>
                    </a:p>
                  </a:txBody>
                  <a:tcPr marL="48348" marR="48348" marT="24174" marB="24174" anchor="ctr">
                    <a:solidFill>
                      <a:schemeClr val="bg1"/>
                    </a:solidFill>
                  </a:tcPr>
                </a:tc>
                <a:tc>
                  <a:txBody>
                    <a:bodyPr/>
                    <a:lstStyle/>
                    <a:p>
                      <a:pPr algn="l">
                        <a:buNone/>
                      </a:pPr>
                      <a:r>
                        <a:rPr lang="en-IN" sz="1600" b="1">
                          <a:effectLst/>
                        </a:rPr>
                        <a:t>$0.05</a:t>
                      </a:r>
                      <a:endParaRPr lang="en-IN" sz="1600">
                        <a:effectLst/>
                      </a:endParaRPr>
                    </a:p>
                  </a:txBody>
                  <a:tcPr marL="48348" marR="48348" marT="24174" marB="24174" anchor="ctr">
                    <a:solidFill>
                      <a:schemeClr val="bg1"/>
                    </a:solidFill>
                  </a:tcPr>
                </a:tc>
                <a:tc>
                  <a:txBody>
                    <a:bodyPr/>
                    <a:lstStyle/>
                    <a:p>
                      <a:pPr algn="l">
                        <a:buNone/>
                      </a:pPr>
                      <a:r>
                        <a:rPr lang="en-IN" sz="1600" b="1" dirty="0">
                          <a:effectLst/>
                        </a:rPr>
                        <a:t>$0.08</a:t>
                      </a:r>
                      <a:endParaRPr lang="en-IN" sz="1600" dirty="0">
                        <a:effectLst/>
                      </a:endParaRPr>
                    </a:p>
                  </a:txBody>
                  <a:tcPr marL="48348" marR="48348" marT="24174" marB="24174" anchor="ctr">
                    <a:solidFill>
                      <a:schemeClr val="bg1"/>
                    </a:solidFill>
                  </a:tcPr>
                </a:tc>
                <a:tc>
                  <a:txBody>
                    <a:bodyPr/>
                    <a:lstStyle/>
                    <a:p>
                      <a:pPr algn="l">
                        <a:buNone/>
                      </a:pPr>
                      <a:r>
                        <a:rPr lang="en-US" sz="1600">
                          <a:effectLst/>
                        </a:rPr>
                        <a:t>Fast classification with minimal overhead; handles fixed enum outputs reliably.</a:t>
                      </a:r>
                    </a:p>
                  </a:txBody>
                  <a:tcPr marL="48348" marR="48348" marT="24174" marB="24174" anchor="ctr">
                    <a:solidFill>
                      <a:schemeClr val="bg1"/>
                    </a:solidFill>
                  </a:tcPr>
                </a:tc>
                <a:extLst>
                  <a:ext uri="{0D108BD9-81ED-4DB2-BD59-A6C34878D82A}">
                    <a16:rowId xmlns:a16="http://schemas.microsoft.com/office/drawing/2014/main" val="1107092068"/>
                  </a:ext>
                </a:extLst>
              </a:tr>
              <a:tr h="907438">
                <a:tc>
                  <a:txBody>
                    <a:bodyPr/>
                    <a:lstStyle/>
                    <a:p>
                      <a:pPr algn="l">
                        <a:buNone/>
                      </a:pPr>
                      <a:r>
                        <a:rPr lang="en-IN" sz="1600" b="1">
                          <a:effectLst/>
                        </a:rPr>
                        <a:t>Task Decomposer</a:t>
                      </a:r>
                      <a:endParaRPr lang="en-IN" sz="1600">
                        <a:effectLst/>
                      </a:endParaRPr>
                    </a:p>
                  </a:txBody>
                  <a:tcPr marL="48348" marR="48348" marT="24174" marB="24174" anchor="ctr">
                    <a:solidFill>
                      <a:schemeClr val="bg1"/>
                    </a:solidFill>
                  </a:tcPr>
                </a:tc>
                <a:tc>
                  <a:txBody>
                    <a:bodyPr/>
                    <a:lstStyle/>
                    <a:p>
                      <a:pPr algn="l">
                        <a:buNone/>
                      </a:pPr>
                      <a:r>
                        <a:rPr lang="en-IN" sz="1600" b="1">
                          <a:effectLst/>
                        </a:rPr>
                        <a:t>Llama 3.1 8B</a:t>
                      </a:r>
                      <a:endParaRPr lang="en-IN" sz="1600">
                        <a:effectLst/>
                      </a:endParaRPr>
                    </a:p>
                  </a:txBody>
                  <a:tcPr marL="48348" marR="48348" marT="24174" marB="24174" anchor="ctr">
                    <a:solidFill>
                      <a:schemeClr val="bg1"/>
                    </a:solidFill>
                  </a:tcPr>
                </a:tc>
                <a:tc>
                  <a:txBody>
                    <a:bodyPr/>
                    <a:lstStyle/>
                    <a:p>
                      <a:pPr algn="l">
                        <a:buNone/>
                      </a:pPr>
                      <a:r>
                        <a:rPr lang="en-IN" sz="1600" b="1" dirty="0">
                          <a:effectLst/>
                        </a:rPr>
                        <a:t>$0.05</a:t>
                      </a:r>
                      <a:endParaRPr lang="en-IN" sz="1600" dirty="0">
                        <a:effectLst/>
                      </a:endParaRPr>
                    </a:p>
                  </a:txBody>
                  <a:tcPr marL="48348" marR="48348" marT="24174" marB="24174" anchor="ctr">
                    <a:solidFill>
                      <a:schemeClr val="bg1"/>
                    </a:solidFill>
                  </a:tcPr>
                </a:tc>
                <a:tc>
                  <a:txBody>
                    <a:bodyPr/>
                    <a:lstStyle/>
                    <a:p>
                      <a:pPr algn="l">
                        <a:buNone/>
                      </a:pPr>
                      <a:r>
                        <a:rPr lang="en-IN" sz="1600" b="1" dirty="0">
                          <a:effectLst/>
                        </a:rPr>
                        <a:t>$0.08</a:t>
                      </a:r>
                      <a:endParaRPr lang="en-IN" sz="1600" dirty="0">
                        <a:effectLst/>
                      </a:endParaRPr>
                    </a:p>
                  </a:txBody>
                  <a:tcPr marL="48348" marR="48348" marT="24174" marB="24174" anchor="ctr">
                    <a:solidFill>
                      <a:schemeClr val="bg1"/>
                    </a:solidFill>
                  </a:tcPr>
                </a:tc>
                <a:tc>
                  <a:txBody>
                    <a:bodyPr/>
                    <a:lstStyle/>
                    <a:p>
                      <a:pPr algn="l">
                        <a:buNone/>
                      </a:pPr>
                      <a:r>
                        <a:rPr lang="en-US" sz="1600">
                          <a:effectLst/>
                        </a:rPr>
                        <a:t>Capable of structured logic; generates sub-task roadmaps with sub-second latency.</a:t>
                      </a:r>
                    </a:p>
                  </a:txBody>
                  <a:tcPr marL="48348" marR="48348" marT="24174" marB="24174" anchor="ctr">
                    <a:solidFill>
                      <a:schemeClr val="bg1"/>
                    </a:solidFill>
                  </a:tcPr>
                </a:tc>
                <a:extLst>
                  <a:ext uri="{0D108BD9-81ED-4DB2-BD59-A6C34878D82A}">
                    <a16:rowId xmlns:a16="http://schemas.microsoft.com/office/drawing/2014/main" val="1084030879"/>
                  </a:ext>
                </a:extLst>
              </a:tr>
              <a:tr h="907438">
                <a:tc>
                  <a:txBody>
                    <a:bodyPr/>
                    <a:lstStyle/>
                    <a:p>
                      <a:pPr algn="l">
                        <a:buNone/>
                      </a:pPr>
                      <a:r>
                        <a:rPr lang="en-IN" sz="1600" b="1">
                          <a:effectLst/>
                        </a:rPr>
                        <a:t>Policy RAG</a:t>
                      </a:r>
                      <a:endParaRPr lang="en-IN" sz="1600">
                        <a:effectLst/>
                      </a:endParaRPr>
                    </a:p>
                  </a:txBody>
                  <a:tcPr marL="48348" marR="48348" marT="24174" marB="24174" anchor="ctr">
                    <a:solidFill>
                      <a:schemeClr val="bg1"/>
                    </a:solidFill>
                  </a:tcPr>
                </a:tc>
                <a:tc>
                  <a:txBody>
                    <a:bodyPr/>
                    <a:lstStyle/>
                    <a:p>
                      <a:pPr algn="l">
                        <a:buNone/>
                      </a:pPr>
                      <a:r>
                        <a:rPr lang="en-IN" sz="1600" b="1">
                          <a:effectLst/>
                        </a:rPr>
                        <a:t>Llama 3.1 8B</a:t>
                      </a:r>
                      <a:endParaRPr lang="en-IN" sz="1600">
                        <a:effectLst/>
                      </a:endParaRPr>
                    </a:p>
                  </a:txBody>
                  <a:tcPr marL="48348" marR="48348" marT="24174" marB="24174" anchor="ctr">
                    <a:solidFill>
                      <a:schemeClr val="bg1"/>
                    </a:solidFill>
                  </a:tcPr>
                </a:tc>
                <a:tc>
                  <a:txBody>
                    <a:bodyPr/>
                    <a:lstStyle/>
                    <a:p>
                      <a:pPr algn="l">
                        <a:buNone/>
                      </a:pPr>
                      <a:r>
                        <a:rPr lang="en-IN" sz="1600" b="1">
                          <a:effectLst/>
                        </a:rPr>
                        <a:t>$0.05</a:t>
                      </a:r>
                      <a:endParaRPr lang="en-IN" sz="1600">
                        <a:effectLst/>
                      </a:endParaRPr>
                    </a:p>
                  </a:txBody>
                  <a:tcPr marL="48348" marR="48348" marT="24174" marB="24174" anchor="ctr">
                    <a:solidFill>
                      <a:schemeClr val="bg1"/>
                    </a:solidFill>
                  </a:tcPr>
                </a:tc>
                <a:tc>
                  <a:txBody>
                    <a:bodyPr/>
                    <a:lstStyle/>
                    <a:p>
                      <a:pPr algn="l">
                        <a:buNone/>
                      </a:pPr>
                      <a:r>
                        <a:rPr lang="en-IN" sz="1600" b="1" dirty="0">
                          <a:effectLst/>
                        </a:rPr>
                        <a:t>$0.08</a:t>
                      </a:r>
                      <a:endParaRPr lang="en-IN" sz="1600" dirty="0">
                        <a:effectLst/>
                      </a:endParaRPr>
                    </a:p>
                  </a:txBody>
                  <a:tcPr marL="48348" marR="48348" marT="24174" marB="24174" anchor="ctr">
                    <a:solidFill>
                      <a:schemeClr val="bg1"/>
                    </a:solidFill>
                  </a:tcPr>
                </a:tc>
                <a:tc>
                  <a:txBody>
                    <a:bodyPr/>
                    <a:lstStyle/>
                    <a:p>
                      <a:pPr algn="l">
                        <a:buNone/>
                      </a:pPr>
                      <a:r>
                        <a:rPr lang="en-US" sz="1600">
                          <a:effectLst/>
                        </a:rPr>
                        <a:t>Optimized for text synthesis; fast retrieval processing for policy lookups.</a:t>
                      </a:r>
                    </a:p>
                  </a:txBody>
                  <a:tcPr marL="48348" marR="48348" marT="24174" marB="24174" anchor="ctr">
                    <a:solidFill>
                      <a:schemeClr val="bg1"/>
                    </a:solidFill>
                  </a:tcPr>
                </a:tc>
                <a:extLst>
                  <a:ext uri="{0D108BD9-81ED-4DB2-BD59-A6C34878D82A}">
                    <a16:rowId xmlns:a16="http://schemas.microsoft.com/office/drawing/2014/main" val="454212035"/>
                  </a:ext>
                </a:extLst>
              </a:tr>
              <a:tr h="1123583">
                <a:tc>
                  <a:txBody>
                    <a:bodyPr/>
                    <a:lstStyle/>
                    <a:p>
                      <a:pPr algn="l">
                        <a:buNone/>
                      </a:pPr>
                      <a:r>
                        <a:rPr lang="en-IN" sz="1600" b="1">
                          <a:effectLst/>
                        </a:rPr>
                        <a:t>Loan Eligibility</a:t>
                      </a:r>
                      <a:endParaRPr lang="en-IN" sz="1600">
                        <a:effectLst/>
                      </a:endParaRPr>
                    </a:p>
                  </a:txBody>
                  <a:tcPr marL="48348" marR="48348" marT="24174" marB="24174" anchor="ctr">
                    <a:solidFill>
                      <a:schemeClr val="bg1"/>
                    </a:solidFill>
                  </a:tcPr>
                </a:tc>
                <a:tc>
                  <a:txBody>
                    <a:bodyPr/>
                    <a:lstStyle/>
                    <a:p>
                      <a:pPr algn="l">
                        <a:buNone/>
                      </a:pPr>
                      <a:r>
                        <a:rPr lang="en-IN" sz="1600" b="1">
                          <a:effectLst/>
                        </a:rPr>
                        <a:t>Llama 3.3 70B</a:t>
                      </a:r>
                      <a:endParaRPr lang="en-IN" sz="1600">
                        <a:effectLst/>
                      </a:endParaRPr>
                    </a:p>
                  </a:txBody>
                  <a:tcPr marL="48348" marR="48348" marT="24174" marB="24174" anchor="ctr">
                    <a:solidFill>
                      <a:schemeClr val="bg1"/>
                    </a:solidFill>
                  </a:tcPr>
                </a:tc>
                <a:tc>
                  <a:txBody>
                    <a:bodyPr/>
                    <a:lstStyle/>
                    <a:p>
                      <a:pPr algn="l">
                        <a:buNone/>
                      </a:pPr>
                      <a:r>
                        <a:rPr lang="en-IN" sz="1600" b="1">
                          <a:effectLst/>
                        </a:rPr>
                        <a:t>$0.59</a:t>
                      </a:r>
                      <a:endParaRPr lang="en-IN" sz="1600">
                        <a:effectLst/>
                      </a:endParaRPr>
                    </a:p>
                  </a:txBody>
                  <a:tcPr marL="48348" marR="48348" marT="24174" marB="24174" anchor="ctr">
                    <a:solidFill>
                      <a:schemeClr val="bg1"/>
                    </a:solidFill>
                  </a:tcPr>
                </a:tc>
                <a:tc>
                  <a:txBody>
                    <a:bodyPr/>
                    <a:lstStyle/>
                    <a:p>
                      <a:pPr algn="l">
                        <a:buNone/>
                      </a:pPr>
                      <a:r>
                        <a:rPr lang="en-IN" sz="1600" b="1">
                          <a:effectLst/>
                        </a:rPr>
                        <a:t>$0.79</a:t>
                      </a:r>
                      <a:endParaRPr lang="en-IN" sz="1600">
                        <a:effectLst/>
                      </a:endParaRPr>
                    </a:p>
                  </a:txBody>
                  <a:tcPr marL="48348" marR="48348" marT="24174" marB="24174" anchor="ctr">
                    <a:solidFill>
                      <a:schemeClr val="bg1"/>
                    </a:solidFill>
                  </a:tcPr>
                </a:tc>
                <a:tc>
                  <a:txBody>
                    <a:bodyPr/>
                    <a:lstStyle/>
                    <a:p>
                      <a:pPr algn="l">
                        <a:buNone/>
                      </a:pPr>
                      <a:r>
                        <a:rPr lang="en-US" sz="1600" dirty="0">
                          <a:effectLst/>
                        </a:rPr>
                        <a:t>Uses the larger model for higher stakes; ensures 100% accuracy in numerical and conditional reasoning.</a:t>
                      </a:r>
                    </a:p>
                  </a:txBody>
                  <a:tcPr marL="48348" marR="48348" marT="24174" marB="24174" anchor="ctr">
                    <a:solidFill>
                      <a:schemeClr val="bg1"/>
                    </a:solidFill>
                  </a:tcPr>
                </a:tc>
                <a:extLst>
                  <a:ext uri="{0D108BD9-81ED-4DB2-BD59-A6C34878D82A}">
                    <a16:rowId xmlns:a16="http://schemas.microsoft.com/office/drawing/2014/main" val="2724331460"/>
                  </a:ext>
                </a:extLst>
              </a:tr>
            </a:tbl>
          </a:graphicData>
        </a:graphic>
      </p:graphicFrame>
    </p:spTree>
    <p:extLst>
      <p:ext uri="{BB962C8B-B14F-4D97-AF65-F5344CB8AC3E}">
        <p14:creationId xmlns:p14="http://schemas.microsoft.com/office/powerpoint/2010/main" val="2386053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BA9F43-41F4-8374-38BB-5A5561A51B4C}"/>
              </a:ext>
            </a:extLst>
          </p:cNvPr>
          <p:cNvSpPr txBox="1"/>
          <p:nvPr/>
        </p:nvSpPr>
        <p:spPr>
          <a:xfrm>
            <a:off x="567267" y="457200"/>
            <a:ext cx="2424446" cy="369332"/>
          </a:xfrm>
          <a:prstGeom prst="rect">
            <a:avLst/>
          </a:prstGeom>
          <a:noFill/>
        </p:spPr>
        <p:txBody>
          <a:bodyPr wrap="none" rtlCol="0">
            <a:spAutoFit/>
          </a:bodyPr>
          <a:lstStyle/>
          <a:p>
            <a:r>
              <a:rPr lang="en-IN" dirty="0"/>
              <a:t>AWS models to be Used</a:t>
            </a:r>
          </a:p>
        </p:txBody>
      </p:sp>
      <p:graphicFrame>
        <p:nvGraphicFramePr>
          <p:cNvPr id="5" name="Table 4">
            <a:extLst>
              <a:ext uri="{FF2B5EF4-FFF2-40B4-BE49-F238E27FC236}">
                <a16:creationId xmlns:a16="http://schemas.microsoft.com/office/drawing/2014/main" id="{E1684ACB-5ABE-279D-FB26-87BEDDB1070D}"/>
              </a:ext>
            </a:extLst>
          </p:cNvPr>
          <p:cNvGraphicFramePr>
            <a:graphicFrameLocks noGrp="1"/>
          </p:cNvGraphicFramePr>
          <p:nvPr>
            <p:extLst>
              <p:ext uri="{D42A27DB-BD31-4B8C-83A1-F6EECF244321}">
                <p14:modId xmlns:p14="http://schemas.microsoft.com/office/powerpoint/2010/main" val="3454413438"/>
              </p:ext>
            </p:extLst>
          </p:nvPr>
        </p:nvGraphicFramePr>
        <p:xfrm>
          <a:off x="567267" y="1349543"/>
          <a:ext cx="11057466" cy="5262921"/>
        </p:xfrm>
        <a:graphic>
          <a:graphicData uri="http://schemas.openxmlformats.org/drawingml/2006/table">
            <a:tbl>
              <a:tblPr/>
              <a:tblGrid>
                <a:gridCol w="2455902">
                  <a:extLst>
                    <a:ext uri="{9D8B030D-6E8A-4147-A177-3AD203B41FA5}">
                      <a16:colId xmlns:a16="http://schemas.microsoft.com/office/drawing/2014/main" val="3528707549"/>
                    </a:ext>
                  </a:extLst>
                </a:gridCol>
                <a:gridCol w="2302409">
                  <a:extLst>
                    <a:ext uri="{9D8B030D-6E8A-4147-A177-3AD203B41FA5}">
                      <a16:colId xmlns:a16="http://schemas.microsoft.com/office/drawing/2014/main" val="1218192060"/>
                    </a:ext>
                  </a:extLst>
                </a:gridCol>
                <a:gridCol w="1452289">
                  <a:extLst>
                    <a:ext uri="{9D8B030D-6E8A-4147-A177-3AD203B41FA5}">
                      <a16:colId xmlns:a16="http://schemas.microsoft.com/office/drawing/2014/main" val="1396298309"/>
                    </a:ext>
                  </a:extLst>
                </a:gridCol>
                <a:gridCol w="1900964">
                  <a:extLst>
                    <a:ext uri="{9D8B030D-6E8A-4147-A177-3AD203B41FA5}">
                      <a16:colId xmlns:a16="http://schemas.microsoft.com/office/drawing/2014/main" val="1062185204"/>
                    </a:ext>
                  </a:extLst>
                </a:gridCol>
                <a:gridCol w="2945902">
                  <a:extLst>
                    <a:ext uri="{9D8B030D-6E8A-4147-A177-3AD203B41FA5}">
                      <a16:colId xmlns:a16="http://schemas.microsoft.com/office/drawing/2014/main" val="1229465148"/>
                    </a:ext>
                  </a:extLst>
                </a:gridCol>
              </a:tblGrid>
              <a:tr h="722869">
                <a:tc>
                  <a:txBody>
                    <a:bodyPr/>
                    <a:lstStyle/>
                    <a:p>
                      <a:pPr algn="l">
                        <a:buNone/>
                      </a:pPr>
                      <a:r>
                        <a:rPr lang="en-IN" sz="1600" dirty="0">
                          <a:effectLst/>
                        </a:rPr>
                        <a:t>Agent</a:t>
                      </a:r>
                    </a:p>
                  </a:txBody>
                  <a:tcPr marL="83551" marR="83551" marT="41776" marB="41776" anchor="ctr">
                    <a:lnL>
                      <a:noFill/>
                    </a:lnL>
                    <a:lnR>
                      <a:noFill/>
                    </a:lnR>
                    <a:lnT>
                      <a:noFill/>
                    </a:lnT>
                    <a:lnB>
                      <a:noFill/>
                    </a:lnB>
                    <a:noFill/>
                  </a:tcPr>
                </a:tc>
                <a:tc>
                  <a:txBody>
                    <a:bodyPr/>
                    <a:lstStyle/>
                    <a:p>
                      <a:pPr algn="l">
                        <a:buNone/>
                      </a:pPr>
                      <a:r>
                        <a:rPr lang="en-IN" sz="1600" dirty="0">
                          <a:effectLst/>
                        </a:rPr>
                        <a:t>Model</a:t>
                      </a:r>
                    </a:p>
                  </a:txBody>
                  <a:tcPr marL="83551" marR="83551" marT="41776" marB="41776" anchor="ctr">
                    <a:lnL>
                      <a:noFill/>
                    </a:lnL>
                    <a:lnR>
                      <a:noFill/>
                    </a:lnR>
                    <a:lnT>
                      <a:noFill/>
                    </a:lnT>
                    <a:lnB>
                      <a:noFill/>
                    </a:lnB>
                    <a:noFill/>
                  </a:tcPr>
                </a:tc>
                <a:tc>
                  <a:txBody>
                    <a:bodyPr/>
                    <a:lstStyle/>
                    <a:p>
                      <a:pPr algn="l">
                        <a:buNone/>
                      </a:pPr>
                      <a:r>
                        <a:rPr lang="en-IN" sz="1600" dirty="0">
                          <a:effectLst/>
                        </a:rPr>
                        <a:t>Input / 1M</a:t>
                      </a:r>
                    </a:p>
                  </a:txBody>
                  <a:tcPr marL="83551" marR="83551" marT="41776" marB="41776" anchor="ctr">
                    <a:lnL>
                      <a:noFill/>
                    </a:lnL>
                    <a:lnR>
                      <a:noFill/>
                    </a:lnR>
                    <a:lnT>
                      <a:noFill/>
                    </a:lnT>
                    <a:lnB>
                      <a:noFill/>
                    </a:lnB>
                    <a:noFill/>
                  </a:tcPr>
                </a:tc>
                <a:tc>
                  <a:txBody>
                    <a:bodyPr/>
                    <a:lstStyle/>
                    <a:p>
                      <a:pPr algn="l">
                        <a:buNone/>
                      </a:pPr>
                      <a:r>
                        <a:rPr lang="en-IN" sz="1600" dirty="0">
                          <a:effectLst/>
                        </a:rPr>
                        <a:t>Output / 1M</a:t>
                      </a:r>
                    </a:p>
                  </a:txBody>
                  <a:tcPr marL="83551" marR="83551" marT="41776" marB="41776" anchor="ctr">
                    <a:lnL>
                      <a:noFill/>
                    </a:lnL>
                    <a:lnR>
                      <a:noFill/>
                    </a:lnR>
                    <a:lnT>
                      <a:noFill/>
                    </a:lnT>
                    <a:lnB>
                      <a:noFill/>
                    </a:lnB>
                    <a:noFill/>
                  </a:tcPr>
                </a:tc>
                <a:tc>
                  <a:txBody>
                    <a:bodyPr/>
                    <a:lstStyle/>
                    <a:p>
                      <a:pPr algn="l">
                        <a:buNone/>
                      </a:pPr>
                      <a:r>
                        <a:rPr lang="en-IN" sz="1600" dirty="0">
                          <a:effectLst/>
                        </a:rPr>
                        <a:t>Why</a:t>
                      </a:r>
                    </a:p>
                  </a:txBody>
                  <a:tcPr marL="83551" marR="83551" marT="41776" marB="41776" anchor="ctr">
                    <a:lnL>
                      <a:noFill/>
                    </a:lnL>
                    <a:lnR>
                      <a:noFill/>
                    </a:lnR>
                    <a:lnT>
                      <a:noFill/>
                    </a:lnT>
                    <a:lnB>
                      <a:noFill/>
                    </a:lnB>
                    <a:noFill/>
                  </a:tcPr>
                </a:tc>
                <a:extLst>
                  <a:ext uri="{0D108BD9-81ED-4DB2-BD59-A6C34878D82A}">
                    <a16:rowId xmlns:a16="http://schemas.microsoft.com/office/drawing/2014/main" val="1698566973"/>
                  </a:ext>
                </a:extLst>
              </a:tr>
              <a:tr h="1031438">
                <a:tc>
                  <a:txBody>
                    <a:bodyPr/>
                    <a:lstStyle/>
                    <a:p>
                      <a:pPr>
                        <a:buNone/>
                      </a:pPr>
                      <a:r>
                        <a:rPr lang="en-IN" sz="1600" dirty="0">
                          <a:effectLst/>
                        </a:rPr>
                        <a:t>Intent Classifier</a:t>
                      </a:r>
                    </a:p>
                  </a:txBody>
                  <a:tcPr marL="83551" marR="83551" marT="41776" marB="41776" anchor="ctr">
                    <a:lnL>
                      <a:noFill/>
                    </a:lnL>
                    <a:lnR>
                      <a:noFill/>
                    </a:lnR>
                    <a:lnT>
                      <a:noFill/>
                    </a:lnT>
                    <a:lnB>
                      <a:noFill/>
                    </a:lnB>
                    <a:noFill/>
                  </a:tcPr>
                </a:tc>
                <a:tc>
                  <a:txBody>
                    <a:bodyPr/>
                    <a:lstStyle/>
                    <a:p>
                      <a:pPr>
                        <a:buNone/>
                      </a:pPr>
                      <a:r>
                        <a:rPr lang="en-IN" sz="1600" dirty="0">
                          <a:effectLst/>
                        </a:rPr>
                        <a:t>Nova Micro</a:t>
                      </a:r>
                    </a:p>
                  </a:txBody>
                  <a:tcPr marL="83551" marR="83551" marT="41776" marB="41776" anchor="ctr">
                    <a:lnL>
                      <a:noFill/>
                    </a:lnL>
                    <a:lnR>
                      <a:noFill/>
                    </a:lnR>
                    <a:lnT>
                      <a:noFill/>
                    </a:lnT>
                    <a:lnB>
                      <a:noFill/>
                    </a:lnB>
                    <a:noFill/>
                  </a:tcPr>
                </a:tc>
                <a:tc>
                  <a:txBody>
                    <a:bodyPr/>
                    <a:lstStyle/>
                    <a:p>
                      <a:pPr>
                        <a:buNone/>
                      </a:pPr>
                      <a:r>
                        <a:rPr lang="en-IN" sz="1600">
                          <a:effectLst/>
                        </a:rPr>
                        <a:t>$0.035</a:t>
                      </a:r>
                    </a:p>
                  </a:txBody>
                  <a:tcPr marL="83551" marR="83551" marT="41776" marB="41776" anchor="ctr">
                    <a:lnL>
                      <a:noFill/>
                    </a:lnL>
                    <a:lnR>
                      <a:noFill/>
                    </a:lnR>
                    <a:lnT>
                      <a:noFill/>
                    </a:lnT>
                    <a:lnB>
                      <a:noFill/>
                    </a:lnB>
                    <a:noFill/>
                  </a:tcPr>
                </a:tc>
                <a:tc>
                  <a:txBody>
                    <a:bodyPr/>
                    <a:lstStyle/>
                    <a:p>
                      <a:pPr>
                        <a:buNone/>
                      </a:pPr>
                      <a:r>
                        <a:rPr lang="en-IN" sz="1600">
                          <a:effectLst/>
                        </a:rPr>
                        <a:t>$0.14</a:t>
                      </a:r>
                    </a:p>
                  </a:txBody>
                  <a:tcPr marL="83551" marR="83551" marT="41776" marB="41776" anchor="ctr">
                    <a:lnL>
                      <a:noFill/>
                    </a:lnL>
                    <a:lnR>
                      <a:noFill/>
                    </a:lnR>
                    <a:lnT>
                      <a:noFill/>
                    </a:lnT>
                    <a:lnB>
                      <a:noFill/>
                    </a:lnB>
                    <a:noFill/>
                  </a:tcPr>
                </a:tc>
                <a:tc>
                  <a:txBody>
                    <a:bodyPr/>
                    <a:lstStyle/>
                    <a:p>
                      <a:pPr>
                        <a:buNone/>
                      </a:pPr>
                      <a:r>
                        <a:rPr lang="en-US" sz="1600" dirty="0">
                          <a:effectLst/>
                        </a:rPr>
                        <a:t>Constrained output, high volume, no reasoning needed</a:t>
                      </a:r>
                    </a:p>
                  </a:txBody>
                  <a:tcPr marL="83551" marR="83551" marT="41776" marB="41776" anchor="ctr">
                    <a:lnL>
                      <a:noFill/>
                    </a:lnL>
                    <a:lnR>
                      <a:noFill/>
                    </a:lnR>
                    <a:lnT>
                      <a:noFill/>
                    </a:lnT>
                    <a:lnB>
                      <a:noFill/>
                    </a:lnB>
                    <a:noFill/>
                  </a:tcPr>
                </a:tc>
                <a:extLst>
                  <a:ext uri="{0D108BD9-81ED-4DB2-BD59-A6C34878D82A}">
                    <a16:rowId xmlns:a16="http://schemas.microsoft.com/office/drawing/2014/main" val="3053763409"/>
                  </a:ext>
                </a:extLst>
              </a:tr>
              <a:tr h="722869">
                <a:tc>
                  <a:txBody>
                    <a:bodyPr/>
                    <a:lstStyle/>
                    <a:p>
                      <a:pPr>
                        <a:buNone/>
                      </a:pPr>
                      <a:r>
                        <a:rPr lang="en-IN" sz="1600" dirty="0">
                          <a:effectLst/>
                        </a:rPr>
                        <a:t>Task Decomposer</a:t>
                      </a:r>
                    </a:p>
                  </a:txBody>
                  <a:tcPr marL="83551" marR="83551" marT="41776" marB="41776" anchor="ctr">
                    <a:lnL>
                      <a:noFill/>
                    </a:lnL>
                    <a:lnR>
                      <a:noFill/>
                    </a:lnR>
                    <a:lnT>
                      <a:noFill/>
                    </a:lnT>
                    <a:lnB>
                      <a:noFill/>
                    </a:lnB>
                    <a:noFill/>
                  </a:tcPr>
                </a:tc>
                <a:tc>
                  <a:txBody>
                    <a:bodyPr/>
                    <a:lstStyle/>
                    <a:p>
                      <a:pPr>
                        <a:buNone/>
                      </a:pPr>
                      <a:r>
                        <a:rPr lang="en-IN" sz="1600">
                          <a:effectLst/>
                        </a:rPr>
                        <a:t>Claude Haiku 4.5</a:t>
                      </a:r>
                    </a:p>
                  </a:txBody>
                  <a:tcPr marL="83551" marR="83551" marT="41776" marB="41776" anchor="ctr">
                    <a:lnL>
                      <a:noFill/>
                    </a:lnL>
                    <a:lnR>
                      <a:noFill/>
                    </a:lnR>
                    <a:lnT>
                      <a:noFill/>
                    </a:lnT>
                    <a:lnB>
                      <a:noFill/>
                    </a:lnB>
                    <a:noFill/>
                  </a:tcPr>
                </a:tc>
                <a:tc>
                  <a:txBody>
                    <a:bodyPr/>
                    <a:lstStyle/>
                    <a:p>
                      <a:pPr>
                        <a:buNone/>
                      </a:pPr>
                      <a:r>
                        <a:rPr lang="en-IN" sz="1600">
                          <a:effectLst/>
                        </a:rPr>
                        <a:t>$1</a:t>
                      </a:r>
                    </a:p>
                  </a:txBody>
                  <a:tcPr marL="83551" marR="83551" marT="41776" marB="41776" anchor="ctr">
                    <a:lnL>
                      <a:noFill/>
                    </a:lnL>
                    <a:lnR>
                      <a:noFill/>
                    </a:lnR>
                    <a:lnT>
                      <a:noFill/>
                    </a:lnT>
                    <a:lnB>
                      <a:noFill/>
                    </a:lnB>
                    <a:noFill/>
                  </a:tcPr>
                </a:tc>
                <a:tc>
                  <a:txBody>
                    <a:bodyPr/>
                    <a:lstStyle/>
                    <a:p>
                      <a:pPr>
                        <a:buNone/>
                      </a:pPr>
                      <a:r>
                        <a:rPr lang="en-IN" sz="1600" dirty="0">
                          <a:effectLst/>
                        </a:rPr>
                        <a:t>$5</a:t>
                      </a:r>
                    </a:p>
                  </a:txBody>
                  <a:tcPr marL="83551" marR="83551" marT="41776" marB="41776" anchor="ctr">
                    <a:lnL>
                      <a:noFill/>
                    </a:lnL>
                    <a:lnR>
                      <a:noFill/>
                    </a:lnR>
                    <a:lnT>
                      <a:noFill/>
                    </a:lnT>
                    <a:lnB>
                      <a:noFill/>
                    </a:lnB>
                    <a:noFill/>
                  </a:tcPr>
                </a:tc>
                <a:tc>
                  <a:txBody>
                    <a:bodyPr/>
                    <a:lstStyle/>
                    <a:p>
                      <a:pPr>
                        <a:buNone/>
                      </a:pPr>
                      <a:r>
                        <a:rPr lang="en-US" sz="1600" dirty="0">
                          <a:effectLst/>
                        </a:rPr>
                        <a:t>Structured reasoning, not heavy judgment</a:t>
                      </a:r>
                    </a:p>
                  </a:txBody>
                  <a:tcPr marL="83551" marR="83551" marT="41776" marB="41776" anchor="ctr">
                    <a:lnL>
                      <a:noFill/>
                    </a:lnL>
                    <a:lnR>
                      <a:noFill/>
                    </a:lnR>
                    <a:lnT>
                      <a:noFill/>
                    </a:lnT>
                    <a:lnB>
                      <a:noFill/>
                    </a:lnB>
                    <a:noFill/>
                  </a:tcPr>
                </a:tc>
                <a:extLst>
                  <a:ext uri="{0D108BD9-81ED-4DB2-BD59-A6C34878D82A}">
                    <a16:rowId xmlns:a16="http://schemas.microsoft.com/office/drawing/2014/main" val="105552488"/>
                  </a:ext>
                </a:extLst>
              </a:tr>
              <a:tr h="1031438">
                <a:tc>
                  <a:txBody>
                    <a:bodyPr/>
                    <a:lstStyle/>
                    <a:p>
                      <a:pPr>
                        <a:buNone/>
                      </a:pPr>
                      <a:r>
                        <a:rPr lang="en-IN" sz="1600">
                          <a:effectLst/>
                        </a:rPr>
                        <a:t>Orchestrator</a:t>
                      </a:r>
                    </a:p>
                  </a:txBody>
                  <a:tcPr marL="83551" marR="83551" marT="41776" marB="41776" anchor="ctr">
                    <a:lnL>
                      <a:noFill/>
                    </a:lnL>
                    <a:lnR>
                      <a:noFill/>
                    </a:lnR>
                    <a:lnT>
                      <a:noFill/>
                    </a:lnT>
                    <a:lnB>
                      <a:noFill/>
                    </a:lnB>
                    <a:noFill/>
                  </a:tcPr>
                </a:tc>
                <a:tc>
                  <a:txBody>
                    <a:bodyPr/>
                    <a:lstStyle/>
                    <a:p>
                      <a:pPr>
                        <a:buNone/>
                      </a:pPr>
                      <a:r>
                        <a:rPr lang="en-IN" sz="1600">
                          <a:effectLst/>
                        </a:rPr>
                        <a:t>Claude Sonnet 4.6</a:t>
                      </a:r>
                    </a:p>
                  </a:txBody>
                  <a:tcPr marL="83551" marR="83551" marT="41776" marB="41776" anchor="ctr">
                    <a:lnL>
                      <a:noFill/>
                    </a:lnL>
                    <a:lnR>
                      <a:noFill/>
                    </a:lnR>
                    <a:lnT>
                      <a:noFill/>
                    </a:lnT>
                    <a:lnB>
                      <a:noFill/>
                    </a:lnB>
                    <a:noFill/>
                  </a:tcPr>
                </a:tc>
                <a:tc>
                  <a:txBody>
                    <a:bodyPr/>
                    <a:lstStyle/>
                    <a:p>
                      <a:pPr>
                        <a:buNone/>
                      </a:pPr>
                      <a:r>
                        <a:rPr lang="en-IN" sz="1600">
                          <a:effectLst/>
                        </a:rPr>
                        <a:t>$3</a:t>
                      </a:r>
                    </a:p>
                  </a:txBody>
                  <a:tcPr marL="83551" marR="83551" marT="41776" marB="41776" anchor="ctr">
                    <a:lnL>
                      <a:noFill/>
                    </a:lnL>
                    <a:lnR>
                      <a:noFill/>
                    </a:lnR>
                    <a:lnT>
                      <a:noFill/>
                    </a:lnT>
                    <a:lnB>
                      <a:noFill/>
                    </a:lnB>
                    <a:noFill/>
                  </a:tcPr>
                </a:tc>
                <a:tc>
                  <a:txBody>
                    <a:bodyPr/>
                    <a:lstStyle/>
                    <a:p>
                      <a:pPr>
                        <a:buNone/>
                      </a:pPr>
                      <a:r>
                        <a:rPr lang="en-IN" sz="1600">
                          <a:effectLst/>
                        </a:rPr>
                        <a:t>$15</a:t>
                      </a:r>
                    </a:p>
                  </a:txBody>
                  <a:tcPr marL="83551" marR="83551" marT="41776" marB="41776" anchor="ctr">
                    <a:lnL>
                      <a:noFill/>
                    </a:lnL>
                    <a:lnR>
                      <a:noFill/>
                    </a:lnR>
                    <a:lnT>
                      <a:noFill/>
                    </a:lnT>
                    <a:lnB>
                      <a:noFill/>
                    </a:lnB>
                    <a:noFill/>
                  </a:tcPr>
                </a:tc>
                <a:tc>
                  <a:txBody>
                    <a:bodyPr/>
                    <a:lstStyle/>
                    <a:p>
                      <a:pPr>
                        <a:buNone/>
                      </a:pPr>
                      <a:r>
                        <a:rPr lang="en-US" sz="1600" dirty="0">
                          <a:effectLst/>
                        </a:rPr>
                        <a:t>Tool-calling loop, judgment, cascading risk</a:t>
                      </a:r>
                    </a:p>
                  </a:txBody>
                  <a:tcPr marL="83551" marR="83551" marT="41776" marB="41776" anchor="ctr">
                    <a:lnL>
                      <a:noFill/>
                    </a:lnL>
                    <a:lnR>
                      <a:noFill/>
                    </a:lnR>
                    <a:lnT>
                      <a:noFill/>
                    </a:lnT>
                    <a:lnB>
                      <a:noFill/>
                    </a:lnB>
                    <a:noFill/>
                  </a:tcPr>
                </a:tc>
                <a:extLst>
                  <a:ext uri="{0D108BD9-81ED-4DB2-BD59-A6C34878D82A}">
                    <a16:rowId xmlns:a16="http://schemas.microsoft.com/office/drawing/2014/main" val="3767394363"/>
                  </a:ext>
                </a:extLst>
              </a:tr>
              <a:tr h="722869">
                <a:tc>
                  <a:txBody>
                    <a:bodyPr/>
                    <a:lstStyle/>
                    <a:p>
                      <a:pPr>
                        <a:buNone/>
                      </a:pPr>
                      <a:r>
                        <a:rPr lang="en-IN" sz="1600">
                          <a:effectLst/>
                        </a:rPr>
                        <a:t>Policy RAG</a:t>
                      </a:r>
                    </a:p>
                  </a:txBody>
                  <a:tcPr marL="83551" marR="83551" marT="41776" marB="41776" anchor="ctr">
                    <a:lnL>
                      <a:noFill/>
                    </a:lnL>
                    <a:lnR>
                      <a:noFill/>
                    </a:lnR>
                    <a:lnT>
                      <a:noFill/>
                    </a:lnT>
                    <a:lnB>
                      <a:noFill/>
                    </a:lnB>
                    <a:noFill/>
                  </a:tcPr>
                </a:tc>
                <a:tc>
                  <a:txBody>
                    <a:bodyPr/>
                    <a:lstStyle/>
                    <a:p>
                      <a:pPr>
                        <a:buNone/>
                      </a:pPr>
                      <a:r>
                        <a:rPr lang="en-IN" sz="1600">
                          <a:effectLst/>
                        </a:rPr>
                        <a:t>Haiku 4.5 → Sonnet 4.6</a:t>
                      </a:r>
                    </a:p>
                  </a:txBody>
                  <a:tcPr marL="83551" marR="83551" marT="41776" marB="41776" anchor="ctr">
                    <a:lnL>
                      <a:noFill/>
                    </a:lnL>
                    <a:lnR>
                      <a:noFill/>
                    </a:lnR>
                    <a:lnT>
                      <a:noFill/>
                    </a:lnT>
                    <a:lnB>
                      <a:noFill/>
                    </a:lnB>
                    <a:noFill/>
                  </a:tcPr>
                </a:tc>
                <a:tc>
                  <a:txBody>
                    <a:bodyPr/>
                    <a:lstStyle/>
                    <a:p>
                      <a:pPr>
                        <a:buNone/>
                      </a:pPr>
                      <a:r>
                        <a:rPr lang="en-IN" sz="1600">
                          <a:effectLst/>
                        </a:rPr>
                        <a:t>$1→$3</a:t>
                      </a:r>
                    </a:p>
                  </a:txBody>
                  <a:tcPr marL="83551" marR="83551" marT="41776" marB="41776" anchor="ctr">
                    <a:lnL>
                      <a:noFill/>
                    </a:lnL>
                    <a:lnR>
                      <a:noFill/>
                    </a:lnR>
                    <a:lnT>
                      <a:noFill/>
                    </a:lnT>
                    <a:lnB>
                      <a:noFill/>
                    </a:lnB>
                    <a:noFill/>
                  </a:tcPr>
                </a:tc>
                <a:tc>
                  <a:txBody>
                    <a:bodyPr/>
                    <a:lstStyle/>
                    <a:p>
                      <a:pPr>
                        <a:buNone/>
                      </a:pPr>
                      <a:r>
                        <a:rPr lang="en-IN" sz="1600">
                          <a:effectLst/>
                        </a:rPr>
                        <a:t>$5→$15</a:t>
                      </a:r>
                    </a:p>
                  </a:txBody>
                  <a:tcPr marL="83551" marR="83551" marT="41776" marB="41776" anchor="ctr">
                    <a:lnL>
                      <a:noFill/>
                    </a:lnL>
                    <a:lnR>
                      <a:noFill/>
                    </a:lnR>
                    <a:lnT>
                      <a:noFill/>
                    </a:lnT>
                    <a:lnB>
                      <a:noFill/>
                    </a:lnB>
                    <a:noFill/>
                  </a:tcPr>
                </a:tc>
                <a:tc>
                  <a:txBody>
                    <a:bodyPr/>
                    <a:lstStyle/>
                    <a:p>
                      <a:pPr>
                        <a:buNone/>
                      </a:pPr>
                      <a:r>
                        <a:rPr lang="en-IN" sz="1600" dirty="0">
                          <a:effectLst/>
                        </a:rPr>
                        <a:t>Tiered on complexity</a:t>
                      </a:r>
                    </a:p>
                  </a:txBody>
                  <a:tcPr marL="83551" marR="83551" marT="41776" marB="41776" anchor="ctr">
                    <a:lnL>
                      <a:noFill/>
                    </a:lnL>
                    <a:lnR>
                      <a:noFill/>
                    </a:lnR>
                    <a:lnT>
                      <a:noFill/>
                    </a:lnT>
                    <a:lnB>
                      <a:noFill/>
                    </a:lnB>
                    <a:noFill/>
                  </a:tcPr>
                </a:tc>
                <a:extLst>
                  <a:ext uri="{0D108BD9-81ED-4DB2-BD59-A6C34878D82A}">
                    <a16:rowId xmlns:a16="http://schemas.microsoft.com/office/drawing/2014/main" val="3617673148"/>
                  </a:ext>
                </a:extLst>
              </a:tr>
              <a:tr h="1031438">
                <a:tc>
                  <a:txBody>
                    <a:bodyPr/>
                    <a:lstStyle/>
                    <a:p>
                      <a:pPr>
                        <a:buNone/>
                      </a:pPr>
                      <a:r>
                        <a:rPr lang="en-IN" sz="1600" dirty="0">
                          <a:effectLst/>
                        </a:rPr>
                        <a:t>Loan Eligibility RAG</a:t>
                      </a:r>
                    </a:p>
                  </a:txBody>
                  <a:tcPr marL="83551" marR="83551" marT="41776" marB="41776" anchor="ctr">
                    <a:lnL>
                      <a:noFill/>
                    </a:lnL>
                    <a:lnR>
                      <a:noFill/>
                    </a:lnR>
                    <a:lnT>
                      <a:noFill/>
                    </a:lnT>
                    <a:lnB>
                      <a:noFill/>
                    </a:lnB>
                    <a:noFill/>
                  </a:tcPr>
                </a:tc>
                <a:tc>
                  <a:txBody>
                    <a:bodyPr/>
                    <a:lstStyle/>
                    <a:p>
                      <a:pPr>
                        <a:buNone/>
                      </a:pPr>
                      <a:r>
                        <a:rPr lang="en-IN" sz="1600">
                          <a:effectLst/>
                        </a:rPr>
                        <a:t>Claude Sonnet 4.6</a:t>
                      </a:r>
                    </a:p>
                  </a:txBody>
                  <a:tcPr marL="83551" marR="83551" marT="41776" marB="41776" anchor="ctr">
                    <a:lnL>
                      <a:noFill/>
                    </a:lnL>
                    <a:lnR>
                      <a:noFill/>
                    </a:lnR>
                    <a:lnT>
                      <a:noFill/>
                    </a:lnT>
                    <a:lnB>
                      <a:noFill/>
                    </a:lnB>
                    <a:noFill/>
                  </a:tcPr>
                </a:tc>
                <a:tc>
                  <a:txBody>
                    <a:bodyPr/>
                    <a:lstStyle/>
                    <a:p>
                      <a:pPr>
                        <a:buNone/>
                      </a:pPr>
                      <a:r>
                        <a:rPr lang="en-IN" sz="1600">
                          <a:effectLst/>
                        </a:rPr>
                        <a:t>$3</a:t>
                      </a:r>
                    </a:p>
                  </a:txBody>
                  <a:tcPr marL="83551" marR="83551" marT="41776" marB="41776" anchor="ctr">
                    <a:lnL>
                      <a:noFill/>
                    </a:lnL>
                    <a:lnR>
                      <a:noFill/>
                    </a:lnR>
                    <a:lnT>
                      <a:noFill/>
                    </a:lnT>
                    <a:lnB>
                      <a:noFill/>
                    </a:lnB>
                    <a:noFill/>
                  </a:tcPr>
                </a:tc>
                <a:tc>
                  <a:txBody>
                    <a:bodyPr/>
                    <a:lstStyle/>
                    <a:p>
                      <a:pPr>
                        <a:buNone/>
                      </a:pPr>
                      <a:r>
                        <a:rPr lang="en-IN" sz="1600">
                          <a:effectLst/>
                        </a:rPr>
                        <a:t>$15</a:t>
                      </a:r>
                    </a:p>
                  </a:txBody>
                  <a:tcPr marL="83551" marR="83551" marT="41776" marB="41776" anchor="ctr">
                    <a:lnL>
                      <a:noFill/>
                    </a:lnL>
                    <a:lnR>
                      <a:noFill/>
                    </a:lnR>
                    <a:lnT>
                      <a:noFill/>
                    </a:lnT>
                    <a:lnB>
                      <a:noFill/>
                    </a:lnB>
                    <a:noFill/>
                  </a:tcPr>
                </a:tc>
                <a:tc>
                  <a:txBody>
                    <a:bodyPr/>
                    <a:lstStyle/>
                    <a:p>
                      <a:pPr>
                        <a:buNone/>
                      </a:pPr>
                      <a:r>
                        <a:rPr lang="en-US" sz="1600" dirty="0">
                          <a:effectLst/>
                        </a:rPr>
                        <a:t>Numerical + conditional reasoning, high stakes</a:t>
                      </a:r>
                    </a:p>
                  </a:txBody>
                  <a:tcPr marL="83551" marR="83551" marT="41776" marB="41776" anchor="ctr">
                    <a:lnL>
                      <a:noFill/>
                    </a:lnL>
                    <a:lnR>
                      <a:noFill/>
                    </a:lnR>
                    <a:lnT>
                      <a:noFill/>
                    </a:lnT>
                    <a:lnB>
                      <a:noFill/>
                    </a:lnB>
                    <a:noFill/>
                  </a:tcPr>
                </a:tc>
                <a:extLst>
                  <a:ext uri="{0D108BD9-81ED-4DB2-BD59-A6C34878D82A}">
                    <a16:rowId xmlns:a16="http://schemas.microsoft.com/office/drawing/2014/main" val="2013064226"/>
                  </a:ext>
                </a:extLst>
              </a:tr>
            </a:tbl>
          </a:graphicData>
        </a:graphic>
      </p:graphicFrame>
    </p:spTree>
    <p:extLst>
      <p:ext uri="{BB962C8B-B14F-4D97-AF65-F5344CB8AC3E}">
        <p14:creationId xmlns:p14="http://schemas.microsoft.com/office/powerpoint/2010/main" val="1000337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8F72D38-F5EB-AFBD-546C-CF163BA7648E}"/>
              </a:ext>
            </a:extLst>
          </p:cNvPr>
          <p:cNvSpPr txBox="1"/>
          <p:nvPr/>
        </p:nvSpPr>
        <p:spPr>
          <a:xfrm>
            <a:off x="5202902" y="3152001"/>
            <a:ext cx="1786195" cy="553998"/>
          </a:xfrm>
          <a:prstGeom prst="rect">
            <a:avLst/>
          </a:prstGeom>
          <a:noFill/>
        </p:spPr>
        <p:txBody>
          <a:bodyPr wrap="none" rtlCol="0">
            <a:spAutoFit/>
          </a:bodyPr>
          <a:lstStyle/>
          <a:p>
            <a:r>
              <a:rPr lang="en-IN" sz="3000" dirty="0"/>
              <a:t>Thank You</a:t>
            </a:r>
          </a:p>
        </p:txBody>
      </p:sp>
    </p:spTree>
    <p:extLst>
      <p:ext uri="{BB962C8B-B14F-4D97-AF65-F5344CB8AC3E}">
        <p14:creationId xmlns:p14="http://schemas.microsoft.com/office/powerpoint/2010/main" val="20938510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547</Words>
  <Application>Microsoft Office PowerPoint</Application>
  <PresentationFormat>Widescreen</PresentationFormat>
  <Paragraphs>127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Segoe UI</vt:lpstr>
      <vt:lpstr>Office Theme</vt:lpstr>
      <vt:lpstr>PowerPoint Presentation</vt:lpstr>
      <vt:lpstr>Problem Statement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Shreyash Chaudhary</dc:creator>
  <cp:lastModifiedBy>Shreyash Chaudhary</cp:lastModifiedBy>
  <cp:revision>3</cp:revision>
  <dcterms:created xsi:type="dcterms:W3CDTF">2026-05-11T04:29:27Z</dcterms:created>
  <dcterms:modified xsi:type="dcterms:W3CDTF">2026-05-11T06:45:57Z</dcterms:modified>
</cp:coreProperties>
</file>